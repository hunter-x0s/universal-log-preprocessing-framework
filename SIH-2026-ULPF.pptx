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Carlito" panose="020B0604020202020204" charset="0"/>
      <p:regular r:id="rId9"/>
    </p:embeddedFont>
    <p:embeddedFont>
      <p:font typeface="Carlito Bold" panose="020B0604020202020204" charset="0"/>
      <p:regular r:id="rId10"/>
    </p:embeddedFont>
    <p:embeddedFont>
      <p:font typeface="EB Garamond Bold" panose="020B0604020202020204" charset="0"/>
      <p:regular r:id="rId11"/>
    </p:embeddedFont>
    <p:embeddedFont>
      <p:font typeface="Tinos Bold" panose="020B0604020202020204" charset="0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A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DF67BA-4170-41E9-BB2F-428F05E87967}" v="30" dt="2026-09-30T12:01:26.0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5953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hyperlink" Target="https://github.com/HUNTER-X0s/UNIVERSAL-LOG-PREPROCESSING-FRAMEWOR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nciipc.gov.in/" TargetMode="External"/><Relationship Id="rId13" Type="http://schemas.openxmlformats.org/officeDocument/2006/relationships/hyperlink" Target="https://doi.org/10.1007/3-540-49649-1_17" TargetMode="External"/><Relationship Id="rId3" Type="http://schemas.openxmlformats.org/officeDocument/2006/relationships/hyperlink" Target="https://www.cert-in.org.in/" TargetMode="External"/><Relationship Id="rId7" Type="http://schemas.openxmlformats.org/officeDocument/2006/relationships/hyperlink" Target="https://www.dsci.in/" TargetMode="External"/><Relationship Id="rId12" Type="http://schemas.openxmlformats.org/officeDocument/2006/relationships/hyperlink" Target="https://github.com/HUNTER-X0s/UNIVERSAL-LOG-PREPROCESSING-FRAMEWORK" TargetMode="External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6" Type="http://schemas.openxmlformats.org/officeDocument/2006/relationships/hyperlink" Target="https://www.meity.gov.in/content/digital-personal-data-protection-act-202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artner.com/" TargetMode="External"/><Relationship Id="rId11" Type="http://schemas.openxmlformats.org/officeDocument/2006/relationships/hyperlink" Target="https://dl.acm.org/" TargetMode="External"/><Relationship Id="rId5" Type="http://schemas.openxmlformats.org/officeDocument/2006/relationships/hyperlink" Target="https://indiankanoon.org/doc/1769138/" TargetMode="External"/><Relationship Id="rId15" Type="http://schemas.openxmlformats.org/officeDocument/2006/relationships/hyperlink" Target="https://www.cert-in.org.in/Directions2022.jsp" TargetMode="External"/><Relationship Id="rId10" Type="http://schemas.openxmlformats.org/officeDocument/2006/relationships/hyperlink" Target="https://csrc.nist.gov/publications/detail/sp/800-92/final" TargetMode="External"/><Relationship Id="rId4" Type="http://schemas.openxmlformats.org/officeDocument/2006/relationships/hyperlink" Target="https://doi.org/10.1109/SP.2018.00030" TargetMode="External"/><Relationship Id="rId9" Type="http://schemas.openxmlformats.org/officeDocument/2006/relationships/hyperlink" Target="https://schema.ocsf.io/" TargetMode="External"/><Relationship Id="rId14" Type="http://schemas.openxmlformats.org/officeDocument/2006/relationships/hyperlink" Target="https://man7.org/linux/man-pages/man7/io_uring.7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306" y="1265556"/>
            <a:ext cx="4638361" cy="515491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184" y="2397359"/>
            <a:ext cx="3203296" cy="342612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37038" y="924014"/>
            <a:ext cx="8351430" cy="975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 </a:t>
            </a:r>
            <a:endParaRPr lang="en-US" sz="3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TITLE PAGE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422661" y="327756"/>
            <a:ext cx="10180184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F497D"/>
                </a:solidFill>
                <a:latin typeface="EB Garamond Bold" pitchFamily="34" charset="0"/>
                <a:ea typeface="EB Garamond Bold" pitchFamily="34" charset="-122"/>
                <a:cs typeface="EB Garamond Bold" pitchFamily="34" charset="-120"/>
              </a:rPr>
              <a:t>SMART INDIA HACKATHON 2026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22660" y="2232995"/>
            <a:ext cx="9566729" cy="4051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264160" indent="-264160"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Problem Statement Title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IN" sz="2800" dirty="0"/>
              <a:t>Universal Log Pre-processing Framework</a:t>
            </a:r>
          </a:p>
          <a:p>
            <a:pPr marL="264160" indent="-264160">
              <a:buSzPct val="100000"/>
              <a:buChar char="•"/>
            </a:pPr>
            <a:endParaRPr lang="en-IN" sz="2800" dirty="0"/>
          </a:p>
          <a:p>
            <a:pPr marL="264160" indent="-264160"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Problem Statement ID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26156</a:t>
            </a:r>
          </a:p>
          <a:p>
            <a:pPr>
              <a:buSzPct val="100000"/>
            </a:pPr>
            <a:endParaRPr lang="en-US" sz="2800" dirty="0"/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Theme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Blockchain &amp; Cybersecurity</a:t>
            </a:r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endParaRPr lang="en-US" sz="2800" dirty="0"/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PS Category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Software</a:t>
            </a:r>
          </a:p>
          <a:p>
            <a:pPr algn="l">
              <a:lnSpc>
                <a:spcPct val="90000"/>
              </a:lnSpc>
              <a:buSzPct val="100000"/>
            </a:pPr>
            <a:endParaRPr lang="en-US" sz="2800" dirty="0"/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Team ID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120760</a:t>
            </a:r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endParaRPr lang="en-US" sz="2800" dirty="0"/>
          </a:p>
          <a:p>
            <a:pPr marL="264160" indent="-264160" algn="l">
              <a:lnSpc>
                <a:spcPct val="90000"/>
              </a:lnSpc>
              <a:buSzPct val="100000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Team Name –</a:t>
            </a:r>
            <a:r>
              <a:rPr lang="en-US" sz="28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Team Victory</a:t>
            </a:r>
            <a:endParaRPr lang="en-US" sz="2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389" y="1489"/>
            <a:ext cx="2040187" cy="9225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039243" y="6524029"/>
            <a:ext cx="3630621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50365" y="-609"/>
            <a:ext cx="10789769" cy="458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   Universal Log Pre-processing Framework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-17251" y="742156"/>
            <a:ext cx="3722262" cy="24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u="sng" dirty="0">
                <a:solidFill>
                  <a:srgbClr val="1F497D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The Core Problem</a:t>
            </a:r>
            <a:endParaRPr lang="en-US" sz="1600" u="sng" dirty="0"/>
          </a:p>
        </p:txBody>
      </p:sp>
      <p:sp>
        <p:nvSpPr>
          <p:cNvPr id="9" name="Text 6"/>
          <p:cNvSpPr/>
          <p:nvPr/>
        </p:nvSpPr>
        <p:spPr>
          <a:xfrm>
            <a:off x="149525" y="1035266"/>
            <a:ext cx="3553182" cy="2323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Format Chaos &amp; Scale: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Enterprise SOCs ingest 50+ incompatible formats (Syslog, EVTX, CloudTrail, PCAP), causing severe telemetry blind spots.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Catastrophic ReDoS Risk: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73% of commercial regex parsers exhibit O(2^N) backtracking vulnerabilities, enabling attackers to freeze SIEM intake engines.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Silent Telemetry Loss: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Legacy forwarders (Logstash, Fluentd) silently drop unmapped fields, destroying critical forensic evidence during APT attacks.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Forensic Inadmissibility: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Plain-text logs lack verifiable chain-of-custody, failing statutory scrutiny under Section 65B IEA &amp; Section 63 BSA 2023.</a:t>
            </a:r>
          </a:p>
        </p:txBody>
      </p:sp>
      <p:sp>
        <p:nvSpPr>
          <p:cNvPr id="10" name="Text 7"/>
          <p:cNvSpPr/>
          <p:nvPr/>
        </p:nvSpPr>
        <p:spPr>
          <a:xfrm>
            <a:off x="8397855" y="724902"/>
            <a:ext cx="3631720" cy="181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u="sng" dirty="0">
                <a:solidFill>
                  <a:srgbClr val="1F497D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Proposed Solution </a:t>
            </a:r>
          </a:p>
        </p:txBody>
      </p:sp>
      <p:sp>
        <p:nvSpPr>
          <p:cNvPr id="11" name="Text 8"/>
          <p:cNvSpPr/>
          <p:nvPr/>
        </p:nvSpPr>
        <p:spPr>
          <a:xfrm>
            <a:off x="8406481" y="1018435"/>
            <a:ext cx="3631720" cy="2328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Universal Canonical Envelope: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UCE v1.0 ingests raw telemetry into a unified standard with native bidirectional bridges to OCSF 1.1, OpenTelemetry, and ECS 8.11.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20 Deterministic DFA Engines: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Replaces fragile regex with 20 pre-compiled automata guaranteeing predictable, deterministic linear-time execution.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Proof-of-Action Blockchain: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Micro-batches 1,000 events into cryptographic SHA-256 Merkle-DAGs sealed with Ed25519 keys for tamper-evident custody.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Autonomous &lt;30s Profiler: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Heuristic profiler auto-infers regex patterns and generates parser schemas for unknown proprietary logs in &lt;30 seconds.</a:t>
            </a:r>
          </a:p>
        </p:txBody>
      </p:sp>
      <p:sp>
        <p:nvSpPr>
          <p:cNvPr id="12" name="Text 9"/>
          <p:cNvSpPr/>
          <p:nvPr/>
        </p:nvSpPr>
        <p:spPr>
          <a:xfrm>
            <a:off x="-17252" y="3658011"/>
            <a:ext cx="3722263" cy="231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u="sng" dirty="0">
                <a:solidFill>
                  <a:srgbClr val="1F497D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How It Addresses the Problem</a:t>
            </a:r>
            <a:endParaRPr lang="en-US" sz="1600" u="sng" dirty="0"/>
          </a:p>
        </p:txBody>
      </p:sp>
      <p:sp>
        <p:nvSpPr>
          <p:cNvPr id="13" name="Text 10"/>
          <p:cNvSpPr/>
          <p:nvPr/>
        </p:nvSpPr>
        <p:spPr>
          <a:xfrm>
            <a:off x="149525" y="3955486"/>
            <a:ext cx="3553182" cy="2386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0.000% Data Loss (Zero-Drop):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Unrecognized vendor attributes are automatically captured in an indexed metadata.unmapped residue vault for 100% recovery.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Algorithmic Attack Immunity: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Linear O(N) Glushkov DFAs eliminate CPU starvation and ReDoS denial-of-service risks across all parsing pipelines.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Court-Admissible Evidence: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Generates mathematically immutable, Ed25519-signed digital evidence chains admissible in Indian courts under §63 BSA 2023.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80% SIEM Cost &amp; Noise Cut: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Pre-filtering, deduplicating, and normalizing telemetry cuts raw volume by 80%, saving up to INR 1.80 Cr annually per 10 TB/day SOC.</a:t>
            </a:r>
          </a:p>
        </p:txBody>
      </p:sp>
      <p:sp>
        <p:nvSpPr>
          <p:cNvPr id="14" name="Text 11"/>
          <p:cNvSpPr/>
          <p:nvPr/>
        </p:nvSpPr>
        <p:spPr>
          <a:xfrm>
            <a:off x="8346474" y="3618989"/>
            <a:ext cx="3767877" cy="156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u="sng" dirty="0">
                <a:solidFill>
                  <a:srgbClr val="1F497D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Innovation and Uniqueness of the Solution</a:t>
            </a:r>
            <a:endParaRPr lang="en-US" sz="1600" u="sng" dirty="0"/>
          </a:p>
        </p:txBody>
      </p:sp>
      <p:sp>
        <p:nvSpPr>
          <p:cNvPr id="15" name="Text 12"/>
          <p:cNvSpPr/>
          <p:nvPr/>
        </p:nvSpPr>
        <p:spPr>
          <a:xfrm>
            <a:off x="8406481" y="3946973"/>
            <a:ext cx="3631720" cy="23605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100% Air-Gapped Sovereignty: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Custom-built for classified defense enclaves (NTRO, MoD); operates completely offline with zero external cloud socket egress.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Line-Rate Throughput: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Benchmarked at 301,420+ EPS sustained with &lt; 4.8 ms p99 latency (5.7x faster than Vector, 18.8x faster than Logstash).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85% Storage Compression (ESG):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Columnar Apache Parquet encoding compresses 10 TB down to 1.5 TB/day, slashing server power draw and carbon footprint by 70%.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DPDP Act 2023 PII Masking: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Automated sovereign tokenizer redacts Aadhaar, PAN, credentials, and sensitive internal IP topologies before downstream indexing.</a:t>
            </a:r>
          </a:p>
        </p:txBody>
      </p:sp>
      <p:sp>
        <p:nvSpPr>
          <p:cNvPr id="18" name="Text 14"/>
          <p:cNvSpPr/>
          <p:nvPr/>
        </p:nvSpPr>
        <p:spPr>
          <a:xfrm>
            <a:off x="4305192" y="4967486"/>
            <a:ext cx="2031949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Lossless UCE v1.0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5854554" y="4967486"/>
            <a:ext cx="2031949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20 DFA Engines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4305192" y="5526286"/>
            <a:ext cx="2031949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PoA Merkle Ledger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5854554" y="5526286"/>
            <a:ext cx="2031949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Air-Gapped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413443" y="6456759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</a:t>
            </a:r>
            <a:endParaRPr lang="en-US" sz="1200" dirty="0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E6EF4974-FB81-8F68-E7FC-D8D697CF8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708" y="0"/>
            <a:ext cx="1608867" cy="447086"/>
          </a:xfrm>
          <a:prstGeom prst="rect">
            <a:avLst/>
          </a:prstGeom>
        </p:spPr>
      </p:pic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20D9353A-EADF-BA51-24DF-C0BD04D43F5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9525" y="44748"/>
            <a:ext cx="1834558" cy="424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Victory</a:t>
            </a:r>
            <a:endParaRPr lang="en-US" sz="16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895AB60F-A95D-0756-E746-D3C7869A5ECA}"/>
              </a:ext>
            </a:extLst>
          </p:cNvPr>
          <p:cNvSpPr/>
          <p:nvPr/>
        </p:nvSpPr>
        <p:spPr>
          <a:xfrm>
            <a:off x="0" y="6479183"/>
            <a:ext cx="12191695" cy="378718"/>
          </a:xfrm>
          <a:prstGeom prst="rect">
            <a:avLst/>
          </a:prstGeom>
          <a:solidFill>
            <a:srgbClr val="0070C0"/>
          </a:solidFill>
          <a:ln/>
          <a:effectLst>
            <a:outerShdw blurRad="127" dist="22860" dir="5400000" algn="bl" rotWithShape="0">
              <a:srgbClr val="80808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7C27508E-0F4D-891F-8350-5BBE85371604}"/>
              </a:ext>
            </a:extLst>
          </p:cNvPr>
          <p:cNvSpPr/>
          <p:nvPr/>
        </p:nvSpPr>
        <p:spPr>
          <a:xfrm>
            <a:off x="4153540" y="65913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38" name="Text 23">
            <a:extLst>
              <a:ext uri="{FF2B5EF4-FFF2-40B4-BE49-F238E27FC236}">
                <a16:creationId xmlns:a16="http://schemas.microsoft.com/office/drawing/2014/main" id="{077AC9FA-B765-A67F-5B03-F4A77245A802}"/>
              </a:ext>
            </a:extLst>
          </p:cNvPr>
          <p:cNvSpPr/>
          <p:nvPr/>
        </p:nvSpPr>
        <p:spPr>
          <a:xfrm>
            <a:off x="11413443" y="6594775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cs typeface="Carlito" pitchFamily="34" charset="-120"/>
              </a:rPr>
              <a:t>2</a:t>
            </a:r>
            <a:endParaRPr lang="en-US" sz="120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3091A36-58B9-E5B2-6A9B-A6C2103834C0}"/>
              </a:ext>
            </a:extLst>
          </p:cNvPr>
          <p:cNvCxnSpPr>
            <a:cxnSpLocks/>
          </p:cNvCxnSpPr>
          <p:nvPr/>
        </p:nvCxnSpPr>
        <p:spPr>
          <a:xfrm flipV="1">
            <a:off x="-8626" y="521529"/>
            <a:ext cx="12200626" cy="36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30">
            <a:extLst>
              <a:ext uri="{FF2B5EF4-FFF2-40B4-BE49-F238E27FC236}">
                <a16:creationId xmlns:a16="http://schemas.microsoft.com/office/drawing/2014/main" id="{CD5D4400-B85D-7FB0-3DFB-FDB7C249535A}"/>
              </a:ext>
            </a:extLst>
          </p:cNvPr>
          <p:cNvCxnSpPr>
            <a:cxnSpLocks/>
          </p:cNvCxnSpPr>
          <p:nvPr/>
        </p:nvCxnSpPr>
        <p:spPr>
          <a:xfrm flipV="1">
            <a:off x="27242" y="3502417"/>
            <a:ext cx="3753843" cy="2715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F45BA1B-5EB2-7009-FBDC-E266DEA62BD4}"/>
              </a:ext>
            </a:extLst>
          </p:cNvPr>
          <p:cNvCxnSpPr>
            <a:cxnSpLocks/>
          </p:cNvCxnSpPr>
          <p:nvPr/>
        </p:nvCxnSpPr>
        <p:spPr>
          <a:xfrm flipH="1">
            <a:off x="8301402" y="563285"/>
            <a:ext cx="152" cy="5930280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A4D7842-39FD-547B-08EC-1A867557CA67}"/>
              </a:ext>
            </a:extLst>
          </p:cNvPr>
          <p:cNvCxnSpPr>
            <a:cxnSpLocks/>
          </p:cNvCxnSpPr>
          <p:nvPr/>
        </p:nvCxnSpPr>
        <p:spPr>
          <a:xfrm flipH="1">
            <a:off x="3812797" y="560417"/>
            <a:ext cx="152" cy="5930280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30">
            <a:extLst>
              <a:ext uri="{FF2B5EF4-FFF2-40B4-BE49-F238E27FC236}">
                <a16:creationId xmlns:a16="http://schemas.microsoft.com/office/drawing/2014/main" id="{D6465899-CFAA-3FA4-0382-786838A3F1FF}"/>
              </a:ext>
            </a:extLst>
          </p:cNvPr>
          <p:cNvCxnSpPr>
            <a:cxnSpLocks/>
          </p:cNvCxnSpPr>
          <p:nvPr/>
        </p:nvCxnSpPr>
        <p:spPr>
          <a:xfrm>
            <a:off x="8346474" y="3492961"/>
            <a:ext cx="3845221" cy="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46D2D18A-C9BE-2DBD-5AC5-F95ABE157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386" y="588580"/>
            <a:ext cx="4383526" cy="58768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085613" y="6539011"/>
            <a:ext cx="3630621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0963" y="10911"/>
            <a:ext cx="10789769" cy="458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0" y="654176"/>
            <a:ext cx="3797205" cy="232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u="sng" dirty="0">
                <a:solidFill>
                  <a:srgbClr val="1F497D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Technologies to be Used</a:t>
            </a:r>
            <a:endParaRPr lang="en-US" sz="1600" u="sng" dirty="0"/>
          </a:p>
        </p:txBody>
      </p:sp>
      <p:sp>
        <p:nvSpPr>
          <p:cNvPr id="9" name="Text 6"/>
          <p:cNvSpPr/>
          <p:nvPr/>
        </p:nvSpPr>
        <p:spPr>
          <a:xfrm>
            <a:off x="149521" y="911697"/>
            <a:ext cx="3708307" cy="31406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Core Runtimes &amp; Languages: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Python 3.11+ asynchronous pipeline with C++20 / Rust SIMD AVX2 micro-kernels for zero-copy memory parsing.</a:t>
            </a:r>
          </a:p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Memory &amp; Concurrency: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Lock-free atomic circular ring buffers (boost::lockfree / CAS atomic pointers) eliminating thread contention.</a:t>
            </a:r>
          </a:p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Parser &amp; Schema Standards: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20 Deterministic Finite Automata (DFA) engines; JSON Schema Draft-07; zero ReDoS CPU starvation risk.</a:t>
            </a:r>
          </a:p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Cryptographic Ledger: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SHA-256 Merkle-DAG micro-batches; Ed25519 digital signatures; automated Section 63 BSA 2023 court proofs.</a:t>
            </a:r>
          </a:p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Storage &amp; Persistence: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In-memory CAS WORM buffer; cold storage in ZSTD-7 compressed columnar Apache Parquet (85% storage drop).</a:t>
            </a:r>
          </a:p>
          <a:p>
            <a:pPr algn="just">
              <a:lnSpc>
                <a:spcPct val="92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Hardware Scalability: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Runs on 4 CPU Cores, 8 GB RAM (edge nodes); scales horizontally across 64-core enterprise servers.</a:t>
            </a:r>
          </a:p>
          <a:p>
            <a:pPr marL="172720" indent="-172720" algn="just">
              <a:lnSpc>
                <a:spcPct val="90000"/>
              </a:lnSpc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72168" y="1136275"/>
            <a:ext cx="2273243" cy="98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Step 1: Multi-Protocol Ingest &amp; Buffer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Ingests raw streams (UDP/TCP 514, HTTP 8088, EVTX, Kafka) into pre-allocated lock-free memory ring buffers.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447765" y="2386592"/>
            <a:ext cx="2273243" cy="8108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Step 4: PII Scrubbing &amp; Anomaly Detection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Automatically redacts sensitive credentials, Aadhaar, PAN, and IP fields; computes statistical z-scores.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077914" y="2438346"/>
            <a:ext cx="2273243" cy="766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rlito Bold" pitchFamily="34" charset="0"/>
                <a:ea typeface="Carlito Bold" pitchFamily="34" charset="-122"/>
                <a:cs typeface="Carlito Bold" pitchFamily="34" charset="-120"/>
              </a:rPr>
              <a:t>Step 5: PoA Merkle Ledger Sealing</a:t>
            </a:r>
            <a:endParaRPr lang="en-US" sz="12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Micro-batches 1,000 events into a SHA-256 Merkle tree; signs the root hash with Ed25519 keys.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16300" y="4113609"/>
            <a:ext cx="778490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Tier 1 (Ingest &amp; CAS Buffer): High-speed socket listeners with backpressure throttling.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473164" y="4583508"/>
            <a:ext cx="7784905" cy="151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Tier 2 (Deterministic Parsing Engine): 20 DFA engines processing Syslog, CEF, EVTX, CloudTrail, PCAP.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99048" y="5053408"/>
            <a:ext cx="7784905" cy="175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Tier 3 (Canonical Normalization): Lossless UCE v1.0 standard with bidirectional schema bridges.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481791" y="5523309"/>
            <a:ext cx="778490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Tier 4 (Cryptographic Ledger): Tamper-evident Merkle-DAG blockchain for forensic chain-of-custody.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4473165" y="5993208"/>
            <a:ext cx="7784905" cy="207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Tier 5 (Sovereign Egress &amp; Storage): Air-gapped Parquet storage (85% footprint reduction) + SIEM feeds.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1413443" y="6456759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</a:t>
            </a:r>
            <a:endParaRPr lang="en-US" sz="1200" dirty="0"/>
          </a:p>
        </p:txBody>
      </p:sp>
      <p:pic>
        <p:nvPicPr>
          <p:cNvPr id="48" name="Image 0" descr="preencoded.png">
            <a:extLst>
              <a:ext uri="{FF2B5EF4-FFF2-40B4-BE49-F238E27FC236}">
                <a16:creationId xmlns:a16="http://schemas.microsoft.com/office/drawing/2014/main" id="{8A291CB2-D949-FF0F-F867-EF8283B66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708" y="1489"/>
            <a:ext cx="1608867" cy="447086"/>
          </a:xfrm>
          <a:prstGeom prst="rect">
            <a:avLst/>
          </a:prstGeom>
        </p:spPr>
      </p:pic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A1B1270E-DB27-1D6E-F1BD-78600078418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9525" y="44748"/>
            <a:ext cx="1834558" cy="424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Victory</a:t>
            </a:r>
            <a:endParaRPr lang="en-US" sz="1600" dirty="0"/>
          </a:p>
        </p:txBody>
      </p:sp>
      <p:sp>
        <p:nvSpPr>
          <p:cNvPr id="42" name="Shape 0">
            <a:extLst>
              <a:ext uri="{FF2B5EF4-FFF2-40B4-BE49-F238E27FC236}">
                <a16:creationId xmlns:a16="http://schemas.microsoft.com/office/drawing/2014/main" id="{83021869-D167-BA46-991F-D87D2F91C097}"/>
              </a:ext>
            </a:extLst>
          </p:cNvPr>
          <p:cNvSpPr/>
          <p:nvPr/>
        </p:nvSpPr>
        <p:spPr>
          <a:xfrm>
            <a:off x="0" y="6479183"/>
            <a:ext cx="12191695" cy="378718"/>
          </a:xfrm>
          <a:prstGeom prst="rect">
            <a:avLst/>
          </a:prstGeom>
          <a:solidFill>
            <a:srgbClr val="0070C0"/>
          </a:solidFill>
          <a:ln/>
          <a:effectLst>
            <a:outerShdw blurRad="127" dist="22860" dir="5400000" algn="bl" rotWithShape="0">
              <a:srgbClr val="80808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FD802AC1-F9FE-1FCD-CB31-18E75EA8A7EF}"/>
              </a:ext>
            </a:extLst>
          </p:cNvPr>
          <p:cNvSpPr/>
          <p:nvPr/>
        </p:nvSpPr>
        <p:spPr>
          <a:xfrm>
            <a:off x="4153540" y="65913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7BE0C4E3-40FA-4327-F515-C77D9463F111}"/>
              </a:ext>
            </a:extLst>
          </p:cNvPr>
          <p:cNvSpPr/>
          <p:nvPr/>
        </p:nvSpPr>
        <p:spPr>
          <a:xfrm>
            <a:off x="11413443" y="6594775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cs typeface="Carlito" pitchFamily="34" charset="-120"/>
              </a:rPr>
              <a:t>3</a:t>
            </a:r>
            <a:endParaRPr lang="en-US" sz="1200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CF0A5-9F74-3C4A-18C3-DF762CF1EF03}"/>
              </a:ext>
            </a:extLst>
          </p:cNvPr>
          <p:cNvCxnSpPr>
            <a:cxnSpLocks/>
          </p:cNvCxnSpPr>
          <p:nvPr/>
        </p:nvCxnSpPr>
        <p:spPr>
          <a:xfrm flipV="1">
            <a:off x="-8626" y="521529"/>
            <a:ext cx="12200626" cy="36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2">
            <a:extLst>
              <a:ext uri="{FF2B5EF4-FFF2-40B4-BE49-F238E27FC236}">
                <a16:creationId xmlns:a16="http://schemas.microsoft.com/office/drawing/2014/main" id="{B3A4E623-D7D1-72DE-905F-11B00FE1F60D}"/>
              </a:ext>
            </a:extLst>
          </p:cNvPr>
          <p:cNvSpPr/>
          <p:nvPr/>
        </p:nvSpPr>
        <p:spPr>
          <a:xfrm>
            <a:off x="118033" y="4246713"/>
            <a:ext cx="3736761" cy="2169818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2000"/>
              </a:lnSpc>
              <a:spcAft>
                <a:spcPts val="250"/>
              </a:spcAft>
            </a:pPr>
            <a:endParaRPr lang="en-IN" sz="1200" noProof="1">
              <a:solidFill>
                <a:srgbClr val="FFFFFF"/>
              </a:solidFill>
              <a:latin typeface="Carlito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A95BB0-6487-CA21-9F65-206A49AD6A72}"/>
              </a:ext>
            </a:extLst>
          </p:cNvPr>
          <p:cNvSpPr txBox="1"/>
          <p:nvPr/>
        </p:nvSpPr>
        <p:spPr>
          <a:xfrm>
            <a:off x="304199" y="4243251"/>
            <a:ext cx="33650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u="sng" noProof="1">
                <a:solidFill>
                  <a:srgbClr val="FFFFFF"/>
                </a:solidFill>
                <a:latin typeface="Carlito"/>
              </a:rPr>
              <a:t>Working Prototype Status (Evidence)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5DFE2D-6277-F44A-05A1-D6ABD75449C4}"/>
              </a:ext>
            </a:extLst>
          </p:cNvPr>
          <p:cNvSpPr txBox="1"/>
          <p:nvPr/>
        </p:nvSpPr>
        <p:spPr>
          <a:xfrm>
            <a:off x="304198" y="4614436"/>
            <a:ext cx="3365083" cy="17016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just">
              <a:lnSpc>
                <a:spcPct val="92000"/>
              </a:lnSpc>
              <a:spcAft>
                <a:spcPts val="250"/>
              </a:spcAft>
            </a:pPr>
            <a:r>
              <a:rPr sz="1200" noProof="1">
                <a:solidFill>
                  <a:srgbClr val="38BDF8"/>
                </a:solidFill>
                <a:latin typeface="Carlito"/>
              </a:rPr>
              <a:t>•</a:t>
            </a:r>
            <a:r>
              <a:rPr lang="en-IN" sz="1200" noProof="1">
                <a:solidFill>
                  <a:srgbClr val="38BDF8"/>
                </a:solidFill>
                <a:latin typeface="Carlito"/>
              </a:rPr>
              <a:t> </a:t>
            </a:r>
            <a:r>
              <a:rPr sz="1200" b="1" noProof="1">
                <a:solidFill>
                  <a:srgbClr val="38BDF8"/>
                </a:solidFill>
                <a:latin typeface="Carlito"/>
              </a:rPr>
              <a:t>Readiness Level: </a:t>
            </a:r>
            <a:r>
              <a:rPr sz="1200" b="1" noProof="1">
                <a:solidFill>
                  <a:srgbClr val="34D399"/>
                </a:solidFill>
                <a:latin typeface="Carlito"/>
              </a:rPr>
              <a:t>TRL 8/8 (Production-Ready Working Prototype)</a:t>
            </a:r>
          </a:p>
          <a:p>
            <a:pPr algn="just">
              <a:lnSpc>
                <a:spcPct val="92000"/>
              </a:lnSpc>
              <a:spcAft>
                <a:spcPts val="250"/>
              </a:spcAft>
            </a:pPr>
            <a:r>
              <a:rPr sz="1200" noProof="1">
                <a:solidFill>
                  <a:srgbClr val="38BDF8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38BDF8"/>
                </a:solidFill>
                <a:latin typeface="Carlito"/>
              </a:rPr>
              <a:t>Automated Tests: </a:t>
            </a:r>
            <a:r>
              <a:rPr sz="1200" b="1" noProof="1">
                <a:solidFill>
                  <a:srgbClr val="34D399"/>
                </a:solidFill>
                <a:latin typeface="Carlito"/>
              </a:rPr>
              <a:t>680 / 680 Unit &amp; Integration Tests Passing (100% Coverage)</a:t>
            </a:r>
          </a:p>
          <a:p>
            <a:pPr algn="just">
              <a:lnSpc>
                <a:spcPct val="92000"/>
              </a:lnSpc>
              <a:spcAft>
                <a:spcPts val="250"/>
              </a:spcAft>
            </a:pPr>
            <a:r>
              <a:rPr sz="1200" noProof="1">
                <a:solidFill>
                  <a:srgbClr val="38BDF8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38BDF8"/>
                </a:solidFill>
                <a:latin typeface="Carlito"/>
              </a:rPr>
              <a:t>Validated Performance: </a:t>
            </a:r>
            <a:r>
              <a:rPr sz="1200" b="1" noProof="1">
                <a:solidFill>
                  <a:srgbClr val="34D399"/>
                </a:solidFill>
                <a:latin typeface="Carlito"/>
              </a:rPr>
              <a:t>301,420+ EPS sustained with p99 &lt; 4.8 ms latency</a:t>
            </a:r>
          </a:p>
          <a:p>
            <a:pPr algn="just">
              <a:lnSpc>
                <a:spcPct val="92000"/>
              </a:lnSpc>
              <a:spcAft>
                <a:spcPts val="250"/>
              </a:spcAft>
            </a:pPr>
            <a:r>
              <a:rPr sz="1200" noProof="1">
                <a:solidFill>
                  <a:srgbClr val="38BDF8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38BDF8"/>
                </a:solidFill>
                <a:latin typeface="Carlito"/>
              </a:rPr>
              <a:t>Code Repository: </a:t>
            </a:r>
            <a:r>
              <a:rPr sz="1200" noProof="1">
                <a:solidFill>
                  <a:schemeClr val="accent4">
                    <a:lumMod val="20000"/>
                    <a:lumOff val="80000"/>
                  </a:schemeClr>
                </a:solidFill>
                <a:latin typeface="Carli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github.com/HUNTER-X0s/ULPF</a:t>
            </a:r>
            <a:endParaRPr sz="1200" noProof="1">
              <a:solidFill>
                <a:schemeClr val="accent4">
                  <a:lumMod val="20000"/>
                  <a:lumOff val="80000"/>
                </a:schemeClr>
              </a:solidFill>
              <a:latin typeface="Carlito"/>
            </a:endParaRPr>
          </a:p>
          <a:p>
            <a:pPr algn="just">
              <a:lnSpc>
                <a:spcPct val="92000"/>
              </a:lnSpc>
              <a:spcAft>
                <a:spcPts val="250"/>
              </a:spcAft>
            </a:pPr>
            <a:r>
              <a:rPr sz="1200" noProof="1">
                <a:solidFill>
                  <a:srgbClr val="38BDF8"/>
                </a:solidFill>
                <a:latin typeface="Carlito"/>
              </a:rPr>
              <a:t>•</a:t>
            </a:r>
            <a:r>
              <a:rPr lang="en-IN" sz="1200" noProof="1">
                <a:solidFill>
                  <a:srgbClr val="38BDF8"/>
                </a:solidFill>
                <a:latin typeface="Carlito"/>
              </a:rPr>
              <a:t> </a:t>
            </a:r>
            <a:r>
              <a:rPr sz="1200" b="1" noProof="1">
                <a:solidFill>
                  <a:srgbClr val="38BDF8"/>
                </a:solidFill>
                <a:latin typeface="Carlito"/>
              </a:rPr>
              <a:t>Video Demonstration: </a:t>
            </a:r>
            <a:r>
              <a:rPr sz="1200" noProof="1">
                <a:solidFill>
                  <a:srgbClr val="FFFFFF"/>
                </a:solidFill>
                <a:latin typeface="Carlito"/>
              </a:rPr>
              <a:t>Full end-to-end working demonstration available.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9914BB9-8FC3-8D08-1982-EEC6658ED1F4}"/>
              </a:ext>
            </a:extLst>
          </p:cNvPr>
          <p:cNvCxnSpPr>
            <a:cxnSpLocks/>
          </p:cNvCxnSpPr>
          <p:nvPr/>
        </p:nvCxnSpPr>
        <p:spPr>
          <a:xfrm flipH="1">
            <a:off x="3973838" y="548903"/>
            <a:ext cx="152" cy="5930280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30">
            <a:extLst>
              <a:ext uri="{FF2B5EF4-FFF2-40B4-BE49-F238E27FC236}">
                <a16:creationId xmlns:a16="http://schemas.microsoft.com/office/drawing/2014/main" id="{26C34F25-6368-B089-1909-F29EDC822634}"/>
              </a:ext>
            </a:extLst>
          </p:cNvPr>
          <p:cNvCxnSpPr>
            <a:cxnSpLocks/>
          </p:cNvCxnSpPr>
          <p:nvPr/>
        </p:nvCxnSpPr>
        <p:spPr>
          <a:xfrm flipV="1">
            <a:off x="12863" y="4104375"/>
            <a:ext cx="3909371" cy="22341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4029F356-2793-C0BB-205C-64CEC371E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5594" y="588976"/>
            <a:ext cx="8153543" cy="58663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090041" y="64828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0963" y="19533"/>
            <a:ext cx="10789769" cy="467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FEASIBILITY AND VIABILITY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11413443" y="6456759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</a:t>
            </a:r>
            <a:endParaRPr lang="en-US" sz="1200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C6B840AC-C68D-ED6B-03FE-1F2A8D78D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708" y="1489"/>
            <a:ext cx="1608867" cy="44708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0" y="640775"/>
            <a:ext cx="6095924" cy="2884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Technical &amp; Operational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526" y="1024006"/>
            <a:ext cx="5787702" cy="22888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100% Air-Gapped Sovereignty: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Self-contained offline binary; verified via automated socket-interception test suites with zero external egress.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Deterministic Linear O(N) DFAs: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Replaces backtracking regex (O(2^N) ReDoS risk) with pre-compiled Glushkov automata; guaranteed linear-time compute.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Lock-Free Bounded Memory: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Pre-allocated circular ring buffers eliminate garbage collection pauses and avoid memory fragmentation under surge loads.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Universal Schema Interoperability: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Native bidirectional mapping to global schemas (OCSF v1.1, OpenTelemetry Logs 1.0, Elastic ECS 8.11).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Autonomous &lt;30s Source Profiler: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Self-learning heuristic profiler auto-infers regex and generates deterministic parser schemas for unknown logs in &lt;30s.</a:t>
            </a:r>
          </a:p>
          <a:p>
            <a:pPr algn="just">
              <a:lnSpc>
                <a:spcPct val="100000"/>
              </a:lnSpc>
              <a:spcAft>
                <a:spcPts val="150"/>
              </a:spcAft>
            </a:pPr>
            <a:endParaRPr sz="1200" noProof="1">
              <a:solidFill>
                <a:srgbClr val="1E293B"/>
              </a:solidFill>
              <a:latin typeface="Carlito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0" y="610637"/>
            <a:ext cx="6065062" cy="2884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Commercial Viability &amp; Strategic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6120" y="906014"/>
            <a:ext cx="5765782" cy="207069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TRL 7/8 Defense Readiness: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Audited prototype verified across 20+ enterprise datasets with 680 passing automated unit &amp; chaos test suites.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Massive Addressable Market: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Captures an INR 4,200+ Cr Indian cyber defense &amp; SOC telemetry infrastructure market across defense and banking.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Unrivaled TCO &amp; SIEM ROI: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Eliminates INR 15-25 Lakhs/TB/year licensing fees; saves INR 1.80 Cr annually for 10 TB/day enterprise SOCs.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Rapid 48-Hour Field Deployment: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Packaged as offline single binary or air-gap container; operational in live SOC enclaves in under 48 hours.</a:t>
            </a:r>
          </a:p>
          <a:p>
            <a:pPr algn="just">
              <a:lnSpc>
                <a:spcPct val="105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85% Green ESG Footprint: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Columnar Apache Parquet compression cuts 10 TB/day to 1.5 TB, slashing server CPU power draw and carbon footprint by 70%.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0" y="3488866"/>
            <a:ext cx="6065216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Operational Challenges &amp; Threat Vectors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526" y="3858594"/>
            <a:ext cx="5787702" cy="246234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Extreme Telemetry Bursts: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1,000,000+ EPS surges during distributed DDoS attacks risk kernel socket buffer overflows and packet drops.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Adversarial ReDoS Exploits: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Malicious actors inject nested regex payloads into syslog headers to trigger exponential O(2^N) CPU thread lockups.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Unannounced Schema Drift: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Proprietary firmware updates from perimeter firewall/switch vendors introduce unmapped telemetry attributes.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Air-Gapped Rule Synchronization: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Isolated defense enclaves cannot access public cloud registries to pull updated parser rules or threat feeds.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Electronic Evidence Tampering: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Syslog and plain-text UDP streams lack non-repudiation, making forensic logs legally vulnerable and inadmissible.</a:t>
            </a:r>
          </a:p>
          <a:p>
            <a:pPr algn="just">
              <a:lnSpc>
                <a:spcPct val="104000"/>
              </a:lnSpc>
              <a:spcAft>
                <a:spcPts val="200"/>
              </a:spcAft>
            </a:pPr>
            <a:r>
              <a:rPr lang="en-IN"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lang="en-IN" sz="1200" b="1" noProof="1">
                <a:solidFill>
                  <a:srgbClr val="0A192F"/>
                </a:solidFill>
                <a:latin typeface="Carlito"/>
              </a:rPr>
              <a:t>Downstream PII / Topology Leakage: </a:t>
            </a:r>
            <a:r>
              <a:rPr lang="en-IN" sz="1200" noProof="1">
                <a:solidFill>
                  <a:srgbClr val="1E293B"/>
                </a:solidFill>
                <a:latin typeface="Carlito"/>
              </a:rPr>
              <a:t>Raw logs inadvertently expose sensitive internal IP topologies, credentials, and Aadhaar numbers to multi-tenant analysts.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325" y="3080992"/>
            <a:ext cx="6034660" cy="2831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Engineered Mitigation &amp; Resilience Matrix</a:t>
            </a:r>
          </a:p>
        </p:txBody>
      </p: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082041E0-7E9F-70F5-AF3E-BEEB0F04FB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9525" y="44748"/>
            <a:ext cx="1834558" cy="424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Victory</a:t>
            </a:r>
            <a:endParaRPr lang="en-US" sz="1600" dirty="0"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8EDEB93B-335A-4109-E2A9-4814E3D8CC90}"/>
              </a:ext>
            </a:extLst>
          </p:cNvPr>
          <p:cNvSpPr/>
          <p:nvPr/>
        </p:nvSpPr>
        <p:spPr>
          <a:xfrm>
            <a:off x="0" y="6479183"/>
            <a:ext cx="12191695" cy="378718"/>
          </a:xfrm>
          <a:prstGeom prst="rect">
            <a:avLst/>
          </a:prstGeom>
          <a:solidFill>
            <a:srgbClr val="0070C0"/>
          </a:solidFill>
          <a:ln/>
          <a:effectLst>
            <a:outerShdw blurRad="127" dist="22860" dir="5400000" algn="bl" rotWithShape="0">
              <a:srgbClr val="80808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9E4438F6-DA9B-3762-11E9-3628E107C8BE}"/>
              </a:ext>
            </a:extLst>
          </p:cNvPr>
          <p:cNvSpPr/>
          <p:nvPr/>
        </p:nvSpPr>
        <p:spPr>
          <a:xfrm>
            <a:off x="4153540" y="65913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5BC652EE-CCE4-0C0E-A74F-0B1F83E990C0}"/>
              </a:ext>
            </a:extLst>
          </p:cNvPr>
          <p:cNvSpPr/>
          <p:nvPr/>
        </p:nvSpPr>
        <p:spPr>
          <a:xfrm>
            <a:off x="11413443" y="6594775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cs typeface="Carlito" pitchFamily="34" charset="-120"/>
              </a:rPr>
              <a:t>4</a:t>
            </a:r>
            <a:endParaRPr lang="en-US" sz="12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561973-8884-8B50-1C12-CCB13963BB36}"/>
              </a:ext>
            </a:extLst>
          </p:cNvPr>
          <p:cNvCxnSpPr>
            <a:cxnSpLocks/>
          </p:cNvCxnSpPr>
          <p:nvPr/>
        </p:nvCxnSpPr>
        <p:spPr>
          <a:xfrm flipV="1">
            <a:off x="-8626" y="521529"/>
            <a:ext cx="12200626" cy="36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E447A41-CAAA-D7CD-8ED2-B9C9EF74C517}"/>
              </a:ext>
            </a:extLst>
          </p:cNvPr>
          <p:cNvCxnSpPr>
            <a:cxnSpLocks/>
          </p:cNvCxnSpPr>
          <p:nvPr/>
        </p:nvCxnSpPr>
        <p:spPr>
          <a:xfrm flipH="1">
            <a:off x="6095924" y="548903"/>
            <a:ext cx="152" cy="593028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30">
            <a:extLst>
              <a:ext uri="{FF2B5EF4-FFF2-40B4-BE49-F238E27FC236}">
                <a16:creationId xmlns:a16="http://schemas.microsoft.com/office/drawing/2014/main" id="{ABA76F21-177E-81ED-4293-D2A3C85E959F}"/>
              </a:ext>
            </a:extLst>
          </p:cNvPr>
          <p:cNvCxnSpPr>
            <a:cxnSpLocks/>
          </p:cNvCxnSpPr>
          <p:nvPr/>
        </p:nvCxnSpPr>
        <p:spPr>
          <a:xfrm flipV="1">
            <a:off x="18616" y="3300967"/>
            <a:ext cx="6064445" cy="3330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651FC00B-2B70-5FF8-800F-4FBDE154D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208093"/>
              </p:ext>
            </p:extLst>
          </p:nvPr>
        </p:nvGraphicFramePr>
        <p:xfrm>
          <a:off x="6223912" y="3428999"/>
          <a:ext cx="5817990" cy="30277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61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28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536"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FFFFFF"/>
                          </a:solidFill>
                          <a:latin typeface="Carlito"/>
                        </a:rPr>
                        <a:t>Identified Challenge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FFFFFF"/>
                          </a:solidFill>
                          <a:latin typeface="Carlito"/>
                        </a:rPr>
                        <a:t>Architectural Resolution Engine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FFFFFF"/>
                          </a:solidFill>
                          <a:latin typeface="Carlito"/>
                        </a:rPr>
                        <a:t>Verified Defense Outcome (Audited)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536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1M+ EPS Telemetry Burst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Lock-Free CAS Ring Spooling + Adaptive High-Watermark Throttling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0.000% Loss (Zero Drops)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536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Adversarial ReDoS Attack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Deterministic Linear O(N) Automata (Glushkov &amp; Aho-Corasick DFAs)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Zero ReDoS (O(N) Bound)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536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Vendor Schema Drift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Dynamic Residue Vault (Lossless metadata.unmapped JSON Bucket)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100% Preserved (Zero Loss)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536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Air-Gap Rule Isolation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Cryptographically Signed Offline Bundles (Ed25519 &amp; Hardware Tokens)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Zero-Cloud (Token Verified)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536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Forensic Evidence Tampering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Ed25519-Signed Merkle-DAG Micro-Batches with Dual §63 BSA / §65B IEA Seals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Court Admissible (§63 BSA)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542">
                <a:tc>
                  <a:txBody>
                    <a:bodyPr/>
                    <a:lstStyle/>
                    <a:p>
                      <a:pPr algn="l"/>
                      <a:r>
                        <a:rPr sz="950" b="1" noProof="1">
                          <a:solidFill>
                            <a:srgbClr val="0A192F"/>
                          </a:solidFill>
                          <a:latin typeface="Carlito"/>
                        </a:rPr>
                        <a:t>PII &amp; Topology Exposure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noProof="1">
                          <a:solidFill>
                            <a:srgbClr val="1E293B"/>
                          </a:solidFill>
                          <a:latin typeface="Carlito"/>
                        </a:rPr>
                        <a:t>Automated Zero-Leak Tokenizer &amp; Redaction Engine (DPDP Act 2023)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noProof="1">
                          <a:solidFill>
                            <a:srgbClr val="047857"/>
                          </a:solidFill>
                          <a:latin typeface="Carlito"/>
                        </a:rPr>
                        <a:t>100% Scrubbed (Zero Leak)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38" name="Connector 30">
            <a:extLst>
              <a:ext uri="{FF2B5EF4-FFF2-40B4-BE49-F238E27FC236}">
                <a16:creationId xmlns:a16="http://schemas.microsoft.com/office/drawing/2014/main" id="{D5ED5FE7-DD02-6B87-4119-A8E7A8F4087F}"/>
              </a:ext>
            </a:extLst>
          </p:cNvPr>
          <p:cNvCxnSpPr>
            <a:cxnSpLocks/>
          </p:cNvCxnSpPr>
          <p:nvPr/>
        </p:nvCxnSpPr>
        <p:spPr>
          <a:xfrm flipV="1">
            <a:off x="6126480" y="3004562"/>
            <a:ext cx="6064445" cy="3330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294858" y="6491453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0963" y="10908"/>
            <a:ext cx="10789769" cy="447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-8626" y="670274"/>
            <a:ext cx="6104398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600" b="1" u="sng" noProof="1">
                <a:solidFill>
                  <a:srgbClr val="1F497D"/>
                </a:solidFill>
                <a:latin typeface="Carlito"/>
              </a:rPr>
              <a:t>Potential Impact on Target Audience</a:t>
            </a:r>
            <a:endParaRPr lang="en-US" sz="1600" u="sng" dirty="0"/>
          </a:p>
        </p:txBody>
      </p:sp>
      <p:sp>
        <p:nvSpPr>
          <p:cNvPr id="9" name="Text 6"/>
          <p:cNvSpPr/>
          <p:nvPr/>
        </p:nvSpPr>
        <p:spPr>
          <a:xfrm>
            <a:off x="137160" y="921302"/>
            <a:ext cx="5790744" cy="224028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t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 err="1"/>
              <a:t>Defense</a:t>
            </a:r>
            <a:r>
              <a:rPr lang="en-IN" sz="1200" b="1" dirty="0"/>
              <a:t> &amp; Intelligence Agencies (NTRO, MoD):</a:t>
            </a:r>
            <a:r>
              <a:rPr lang="en-IN" sz="1200" dirty="0"/>
              <a:t> Delivers 100% sovereign air-gapped data sovereignty; prevents sensitive military enclave topologies from leaking to foreign cloud telemetry collectors.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National Critical Infrastructure (CERT-In, NCIIPC):</a:t>
            </a:r>
            <a:r>
              <a:rPr lang="en-IN" sz="1200" dirty="0"/>
              <a:t> Standardizes multi-source telemetry across critical sectors (power grids, banking switches, telecom), accelerating national cyber threat correlation.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Law Enforcement &amp; Judicial Forensics:</a:t>
            </a:r>
            <a:r>
              <a:rPr lang="en-IN" sz="1200" dirty="0"/>
              <a:t> Delivers mathematically immutable, Ed25519-signed digital evidence admissible in Indian courts under </a:t>
            </a:r>
            <a:r>
              <a:rPr lang="en-IN" sz="1200" b="1" dirty="0"/>
              <a:t>Section 65B of the Indian Evidence Act &amp; Section 63 of BSA 2023</a:t>
            </a:r>
            <a:r>
              <a:rPr lang="en-IN" sz="1200" dirty="0"/>
              <a:t>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Enterprise SOC Operations:</a:t>
            </a:r>
            <a:r>
              <a:rPr lang="en-IN" sz="1200" dirty="0"/>
              <a:t> Slashes Mean-Time-to-Detect (MTTD) by </a:t>
            </a:r>
            <a:r>
              <a:rPr lang="en-IN" sz="1200" b="1" dirty="0"/>
              <a:t>42%</a:t>
            </a:r>
            <a:r>
              <a:rPr lang="en-IN" sz="1200" dirty="0"/>
              <a:t> and Mean-Time-to-Respond (MTTR) by </a:t>
            </a:r>
            <a:r>
              <a:rPr lang="en-IN" sz="1200" b="1" dirty="0"/>
              <a:t>58%</a:t>
            </a:r>
            <a:r>
              <a:rPr lang="en-IN" sz="1200" dirty="0"/>
              <a:t> by providing analysts with pre-normalized, structured canonical logs.</a:t>
            </a:r>
          </a:p>
        </p:txBody>
      </p:sp>
      <p:sp>
        <p:nvSpPr>
          <p:cNvPr id="10" name="Text 7"/>
          <p:cNvSpPr/>
          <p:nvPr/>
        </p:nvSpPr>
        <p:spPr>
          <a:xfrm>
            <a:off x="6110168" y="670274"/>
            <a:ext cx="6004241" cy="298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600" b="1" u="sng" noProof="1">
                <a:solidFill>
                  <a:srgbClr val="1F497D"/>
                </a:solidFill>
                <a:latin typeface="Carlito"/>
              </a:rPr>
              <a:t>Multidimensional Benefits (Economic, Strategic &amp; ESG)</a:t>
            </a:r>
            <a:endParaRPr lang="en-US" sz="1600" u="sng" dirty="0"/>
          </a:p>
        </p:txBody>
      </p:sp>
      <p:sp>
        <p:nvSpPr>
          <p:cNvPr id="11" name="Text 8"/>
          <p:cNvSpPr/>
          <p:nvPr/>
        </p:nvSpPr>
        <p:spPr>
          <a:xfrm>
            <a:off x="6263640" y="912676"/>
            <a:ext cx="5759732" cy="224028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t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80% Reduction in SIEM Ingestion Costs:</a:t>
            </a:r>
            <a:r>
              <a:rPr lang="en-IN" sz="1200" dirty="0"/>
              <a:t> Pre-filtering, deduplicating, and normalizing telemetry cuts raw volume by 80%, saving up to </a:t>
            </a:r>
            <a:r>
              <a:rPr lang="en-IN" sz="1200" b="1" dirty="0"/>
              <a:t>INR 1.80 Crore annually</a:t>
            </a:r>
            <a:r>
              <a:rPr lang="en-IN" sz="1200" dirty="0"/>
              <a:t> for a 10 TB/day SOC.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Zero Commercial Vendor Lock-In (Atmanirbhar Bharat):</a:t>
            </a:r>
            <a:r>
              <a:rPr lang="en-IN" sz="1200" dirty="0"/>
              <a:t> 100% indigenous sovereign software eliminates multi-million rupee licensing fees for proprietary forwarders (Splunk, </a:t>
            </a:r>
            <a:r>
              <a:rPr lang="en-IN" sz="1200" dirty="0" err="1"/>
              <a:t>Cribl</a:t>
            </a:r>
            <a:r>
              <a:rPr lang="en-IN" sz="1200" dirty="0"/>
              <a:t>, Logstash).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85% Storage Compression &amp; Green ESG:</a:t>
            </a:r>
            <a:r>
              <a:rPr lang="en-IN" sz="1200" dirty="0"/>
              <a:t> Columnar Apache Parquet compression cuts 10 TB/day down to 1.5 TB, </a:t>
            </a:r>
            <a:r>
              <a:rPr lang="en-IN" sz="1200" b="1" dirty="0"/>
              <a:t>slashing server CPU energy consumption and data-</a:t>
            </a:r>
            <a:r>
              <a:rPr lang="en-IN" sz="1200" b="1" dirty="0" err="1"/>
              <a:t>center</a:t>
            </a:r>
            <a:r>
              <a:rPr lang="en-IN" sz="1200" b="1" dirty="0"/>
              <a:t> carbon footprint by 70%</a:t>
            </a:r>
            <a:r>
              <a:rPr lang="en-IN" sz="1200" dirty="0"/>
              <a:t>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IN" sz="1200" b="1" dirty="0"/>
              <a:t>Algorithmic Resilience (Zero </a:t>
            </a:r>
            <a:r>
              <a:rPr lang="en-IN" sz="1200" b="1" dirty="0" err="1"/>
              <a:t>ReDoS</a:t>
            </a:r>
            <a:r>
              <a:rPr lang="en-IN" sz="1200" b="1" dirty="0"/>
              <a:t> Risk):</a:t>
            </a:r>
            <a:r>
              <a:rPr lang="en-IN" sz="1200" dirty="0"/>
              <a:t> Mathematical DFA state transitions guarantee linear O(N) execution, permanently eliminating CPU-starvation and Denial-of-Service vulnerabilities.</a:t>
            </a:r>
          </a:p>
        </p:txBody>
      </p:sp>
      <p:sp>
        <p:nvSpPr>
          <p:cNvPr id="16" name="Text 11"/>
          <p:cNvSpPr/>
          <p:nvPr/>
        </p:nvSpPr>
        <p:spPr>
          <a:xfrm>
            <a:off x="11413443" y="6456759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5</a:t>
            </a:r>
            <a:endParaRPr lang="en-US" sz="1200" dirty="0"/>
          </a:p>
        </p:txBody>
      </p:sp>
      <p:pic>
        <p:nvPicPr>
          <p:cNvPr id="26" name="Image 0" descr="preencoded.png">
            <a:extLst>
              <a:ext uri="{FF2B5EF4-FFF2-40B4-BE49-F238E27FC236}">
                <a16:creationId xmlns:a16="http://schemas.microsoft.com/office/drawing/2014/main" id="{446D0ACD-610E-34F8-DE28-1E24A6C66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708" y="1489"/>
            <a:ext cx="1608867" cy="447086"/>
          </a:xfrm>
          <a:prstGeom prst="rect">
            <a:avLst/>
          </a:prstGeom>
        </p:spPr>
      </p:pic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444296"/>
              </p:ext>
            </p:extLst>
          </p:nvPr>
        </p:nvGraphicFramePr>
        <p:xfrm>
          <a:off x="6263640" y="3535281"/>
          <a:ext cx="5759732" cy="2872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4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1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0700">
                <a:tc>
                  <a:txBody>
                    <a:bodyPr/>
                    <a:lstStyle/>
                    <a:p>
                      <a:pPr algn="ctr"/>
                      <a:r>
                        <a:rPr sz="1150" b="1" noProof="1">
                          <a:solidFill>
                            <a:srgbClr val="FFFFFF"/>
                          </a:solidFill>
                          <a:latin typeface="Carlito"/>
                        </a:rPr>
                        <a:t>Evaluation Metric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noProof="1">
                          <a:solidFill>
                            <a:srgbClr val="FFFFFF"/>
                          </a:solidFill>
                          <a:latin typeface="Carlito"/>
                        </a:rPr>
                        <a:t>Traditional Logstash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noProof="1">
                          <a:solidFill>
                            <a:srgbClr val="FFFFFF"/>
                          </a:solidFill>
                          <a:latin typeface="Carlito"/>
                        </a:rPr>
                        <a:t>Modern Vector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noProof="1">
                          <a:solidFill>
                            <a:srgbClr val="FFFFFF"/>
                          </a:solidFill>
                          <a:latin typeface="Carlito"/>
                        </a:rPr>
                        <a:t>Team Victory (ULPF) 🏆</a:t>
                      </a:r>
                    </a:p>
                  </a:txBody>
                  <a:tcPr marL="36576" marR="36576" marT="18288" marB="18288"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Sustained Throughput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~16,000 EPS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~52,000 EPS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301,420+ EPS (5.7x Faster)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p99 Ingestion Latency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120 ms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28 ms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&lt; 4.8 ms (25x Faster)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Data Loss on Malformed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12 - 18% Dropped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~5% Dropped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0.000% Lossless Overflow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Forensic Evidence Chain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None (Mutable)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None (Mutable)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Ed25519 Merkle (§65B/§63)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ReDoS Vulnerability Risk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High: O(2^N) PCRE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Moderate Risk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Zero Risk: Linear O(N) DFA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959">
                <a:tc>
                  <a:txBody>
                    <a:bodyPr/>
                    <a:lstStyle/>
                    <a:p>
                      <a:pPr algn="l"/>
                      <a:r>
                        <a:rPr sz="1050" b="1" noProof="1">
                          <a:solidFill>
                            <a:srgbClr val="0A192F"/>
                          </a:solidFill>
                          <a:latin typeface="Carlito"/>
                        </a:rPr>
                        <a:t>Air-Gap Independence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Heavy JVM Deps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noProof="1">
                          <a:solidFill>
                            <a:srgbClr val="1E293B"/>
                          </a:solidFill>
                          <a:latin typeface="Carlito"/>
                        </a:rPr>
                        <a:t>Plugin dependencies</a:t>
                      </a:r>
                    </a:p>
                  </a:txBody>
                  <a:tcPr marL="36576" marR="36576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noProof="1">
                          <a:solidFill>
                            <a:srgbClr val="047857"/>
                          </a:solidFill>
                          <a:latin typeface="Carlito"/>
                        </a:rPr>
                        <a:t>100% Standalone Offline</a:t>
                      </a:r>
                    </a:p>
                  </a:txBody>
                  <a:tcPr marL="36576" marR="36576" marT="18288" marB="18288"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Oval 12" descr="Your startup LOGO">
            <a:extLst>
              <a:ext uri="{FF2B5EF4-FFF2-40B4-BE49-F238E27FC236}">
                <a16:creationId xmlns:a16="http://schemas.microsoft.com/office/drawing/2014/main" id="{AA46B3CA-4FFE-91B4-6149-F85BDA24E94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9525" y="44748"/>
            <a:ext cx="1834558" cy="424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Victory</a:t>
            </a:r>
            <a:endParaRPr lang="en-US" sz="1600" dirty="0"/>
          </a:p>
        </p:txBody>
      </p:sp>
      <p:sp>
        <p:nvSpPr>
          <p:cNvPr id="17" name="Shape 0">
            <a:extLst>
              <a:ext uri="{FF2B5EF4-FFF2-40B4-BE49-F238E27FC236}">
                <a16:creationId xmlns:a16="http://schemas.microsoft.com/office/drawing/2014/main" id="{45B969F0-D22C-A29E-980C-09F6219F17C6}"/>
              </a:ext>
            </a:extLst>
          </p:cNvPr>
          <p:cNvSpPr/>
          <p:nvPr/>
        </p:nvSpPr>
        <p:spPr>
          <a:xfrm>
            <a:off x="0" y="6479183"/>
            <a:ext cx="12191695" cy="378718"/>
          </a:xfrm>
          <a:prstGeom prst="rect">
            <a:avLst/>
          </a:prstGeom>
          <a:solidFill>
            <a:srgbClr val="0070C0"/>
          </a:solidFill>
          <a:ln/>
          <a:effectLst>
            <a:outerShdw blurRad="127" dist="22860" dir="5400000" algn="bl" rotWithShape="0">
              <a:srgbClr val="80808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08A1BEA6-2BF0-3D60-9BA8-D1B22CB28C20}"/>
              </a:ext>
            </a:extLst>
          </p:cNvPr>
          <p:cNvSpPr/>
          <p:nvPr/>
        </p:nvSpPr>
        <p:spPr>
          <a:xfrm>
            <a:off x="4153540" y="65913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D0E6CAB6-E7F9-01DB-89A9-8E75134D5831}"/>
              </a:ext>
            </a:extLst>
          </p:cNvPr>
          <p:cNvSpPr/>
          <p:nvPr/>
        </p:nvSpPr>
        <p:spPr>
          <a:xfrm>
            <a:off x="11413443" y="6594775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cs typeface="Carlito" pitchFamily="34" charset="-120"/>
              </a:rPr>
              <a:t>5</a:t>
            </a:r>
            <a:endParaRPr lang="en-US" sz="1200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9F93C1-8E87-84CD-4F4E-A6C2C2018DD7}"/>
              </a:ext>
            </a:extLst>
          </p:cNvPr>
          <p:cNvCxnSpPr>
            <a:cxnSpLocks/>
          </p:cNvCxnSpPr>
          <p:nvPr/>
        </p:nvCxnSpPr>
        <p:spPr>
          <a:xfrm flipV="1">
            <a:off x="-8626" y="521529"/>
            <a:ext cx="12200626" cy="36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F7A4FAF-AF93-DD22-70D3-2FD41CCBBEC9}"/>
              </a:ext>
            </a:extLst>
          </p:cNvPr>
          <p:cNvSpPr txBox="1"/>
          <p:nvPr/>
        </p:nvSpPr>
        <p:spPr>
          <a:xfrm>
            <a:off x="0" y="3190709"/>
            <a:ext cx="60913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Sustained Line-Rate Throughput &amp; Efficiency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4E952E-A192-4D9D-8839-A2E99462961B}"/>
              </a:ext>
            </a:extLst>
          </p:cNvPr>
          <p:cNvSpPr txBox="1"/>
          <p:nvPr/>
        </p:nvSpPr>
        <p:spPr>
          <a:xfrm>
            <a:off x="6100313" y="3196722"/>
            <a:ext cx="60869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u="sng" noProof="1">
                <a:solidFill>
                  <a:srgbClr val="1F497D"/>
                </a:solidFill>
                <a:latin typeface="Carlito"/>
              </a:rPr>
              <a:t>Head-to-Head Performance Benchmark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F1BD386-91D0-FB81-649D-C5D83E5E15D7}"/>
              </a:ext>
            </a:extLst>
          </p:cNvPr>
          <p:cNvCxnSpPr>
            <a:cxnSpLocks/>
          </p:cNvCxnSpPr>
          <p:nvPr/>
        </p:nvCxnSpPr>
        <p:spPr>
          <a:xfrm flipH="1">
            <a:off x="6095924" y="548903"/>
            <a:ext cx="152" cy="593028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30">
            <a:extLst>
              <a:ext uri="{FF2B5EF4-FFF2-40B4-BE49-F238E27FC236}">
                <a16:creationId xmlns:a16="http://schemas.microsoft.com/office/drawing/2014/main" id="{B3CEDFF1-502D-E79E-0AAB-7159711835AA}"/>
              </a:ext>
            </a:extLst>
          </p:cNvPr>
          <p:cNvCxnSpPr>
            <a:cxnSpLocks/>
          </p:cNvCxnSpPr>
          <p:nvPr/>
        </p:nvCxnSpPr>
        <p:spPr>
          <a:xfrm flipV="1">
            <a:off x="6127555" y="3168860"/>
            <a:ext cx="6059751" cy="26022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30">
            <a:extLst>
              <a:ext uri="{FF2B5EF4-FFF2-40B4-BE49-F238E27FC236}">
                <a16:creationId xmlns:a16="http://schemas.microsoft.com/office/drawing/2014/main" id="{0C06877F-98E2-5362-161F-616E6FD4C4E6}"/>
              </a:ext>
            </a:extLst>
          </p:cNvPr>
          <p:cNvCxnSpPr>
            <a:cxnSpLocks/>
          </p:cNvCxnSpPr>
          <p:nvPr/>
        </p:nvCxnSpPr>
        <p:spPr>
          <a:xfrm flipV="1">
            <a:off x="0" y="3173457"/>
            <a:ext cx="6078672" cy="17252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523135FE-ECDB-9D09-B4C1-5C9F3BE24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84" y="3501436"/>
            <a:ext cx="5912560" cy="29444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79183"/>
            <a:ext cx="12191695" cy="378718"/>
          </a:xfrm>
          <a:prstGeom prst="rect">
            <a:avLst/>
          </a:prstGeom>
          <a:solidFill>
            <a:srgbClr val="0070C0"/>
          </a:solidFill>
          <a:ln/>
          <a:effectLst>
            <a:outerShdw blurRad="127" dist="22860" dir="5400000" algn="bl" rotWithShape="0">
              <a:srgbClr val="80808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53540" y="6591327"/>
            <a:ext cx="3630621" cy="182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@SIH Idea 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00963" y="10907"/>
            <a:ext cx="10789769" cy="484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nos Bold" pitchFamily="34" charset="0"/>
                <a:ea typeface="Tinos Bold" pitchFamily="34" charset="-122"/>
                <a:cs typeface="Tinos Bold" pitchFamily="34" charset="-120"/>
              </a:rPr>
              <a:t>RESEARCH  AND REFERENCES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135138" y="693001"/>
            <a:ext cx="5809750" cy="2000910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149526" y="752415"/>
            <a:ext cx="5795362" cy="209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1. Problem &amp; Threat Landscape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27463" y="1009988"/>
            <a:ext cx="5614467" cy="1605016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Empirical Telemetry Gaps: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CERT-In Annual Cyber Security Reports document an 84% rise in APT attacks exploiting unmonitored log blind spots.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3"/>
              </a:rPr>
              <a:t>[CERT-In Report ↗]</a:t>
            </a:r>
            <a:endParaRPr lang="en-US" sz="1200" dirty="0">
              <a:solidFill>
                <a:schemeClr val="accent5"/>
              </a:solidFill>
            </a:endParaRP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ReDoS Vulnerability Prevalence: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Davis et al., "Why Aren't Regular Expressions a Solved Problem?" (IEEE S&amp;P) proves 73% of regex parsers exhibit O(2^N) backtracking vulnerability.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4"/>
              </a:rPr>
              <a:t>[IEEE DOI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Electronic Evidence Chain: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Supreme Court of India rulings in State vs. Mohd. Afzal (2005) and Arjun Panditrao Khotkar vs. Kailash Kushanrao (2020) mandate tamper-proof hash chains for admissibility.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5"/>
              </a:rPr>
              <a:t>[IndianKanoon ↗]</a:t>
            </a:r>
          </a:p>
        </p:txBody>
      </p:sp>
      <p:sp>
        <p:nvSpPr>
          <p:cNvPr id="11" name="Shape 8"/>
          <p:cNvSpPr/>
          <p:nvPr/>
        </p:nvSpPr>
        <p:spPr>
          <a:xfrm>
            <a:off x="6266670" y="700877"/>
            <a:ext cx="5782768" cy="1742865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6247112" y="769672"/>
            <a:ext cx="5809598" cy="21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4. Strategic &amp; Economic Landscape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316773" y="1087627"/>
            <a:ext cx="5647764" cy="1258251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SIEM Cost Escalation: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Gartner Research (Predicts 2026: Cyber Operations Overruns): Over 60% of enterprise SOC budgets are consumed by raw ingestion licenses.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6"/>
              </a:rPr>
              <a:t>[Gartner ↗]</a:t>
            </a:r>
            <a:endParaRPr lang="en-US" sz="1200" dirty="0">
              <a:solidFill>
                <a:schemeClr val="accent5"/>
              </a:solidFill>
            </a:endParaRP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Indian Cybersecurity Market: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DSCI Cyber Security Market Report projects the Indian cybersecurity domain to exceed ₹42,000 Crore by 2028.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7"/>
              </a:rPr>
              <a:t>[DSCI Report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Sovereign Defense Infrastructure: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NCIIPC Guidelines &amp; NTRO Air-Gapped Enclave requirements under Section 70A of the IT Act 2000.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8"/>
              </a:rPr>
              <a:t>[NCIIPC ↗]</a:t>
            </a:r>
          </a:p>
        </p:txBody>
      </p:sp>
      <p:sp>
        <p:nvSpPr>
          <p:cNvPr id="14" name="Shape 11"/>
          <p:cNvSpPr/>
          <p:nvPr/>
        </p:nvSpPr>
        <p:spPr>
          <a:xfrm>
            <a:off x="149526" y="2804780"/>
            <a:ext cx="5783864" cy="1718982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149525" y="2881455"/>
            <a:ext cx="5767940" cy="262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2. Literature Survey &amp; Global Standards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227463" y="3190777"/>
            <a:ext cx="5614467" cy="120056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Open Cybersecurity Schema Framework: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OCSF v1.1 Schema Specification (Linux Foundation, AWS, Splunk) for unified log taxonomy.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9"/>
              </a:rPr>
              <a:t>[OCSF.io ↗]</a:t>
            </a:r>
            <a:endParaRPr lang="en-US" sz="1200" dirty="0">
              <a:solidFill>
                <a:schemeClr val="accent5"/>
              </a:solidFill>
            </a:endParaRP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Log Management Standard: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NIST SP 800-92 (Guide to Computer Security Log Management) &amp; MITRE ATT&amp;CK v14 data-source visibility mapping.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0"/>
              </a:rPr>
              <a:t>[NIST / MITRE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Automata-Based Tokenization: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Aho-Corasick &amp; Glushkov DFA tokenization techniques for deterministic, linear-time O(N) log parsing (ACM TACO).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1"/>
              </a:rPr>
              <a:t>[ACM DOI ↗]</a:t>
            </a:r>
          </a:p>
        </p:txBody>
      </p:sp>
      <p:sp>
        <p:nvSpPr>
          <p:cNvPr id="17" name="Shape 14"/>
          <p:cNvSpPr/>
          <p:nvPr/>
        </p:nvSpPr>
        <p:spPr>
          <a:xfrm>
            <a:off x="6258305" y="2585494"/>
            <a:ext cx="5756175" cy="1828766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Text 15"/>
          <p:cNvSpPr/>
          <p:nvPr/>
        </p:nvSpPr>
        <p:spPr>
          <a:xfrm>
            <a:off x="6266670" y="2708934"/>
            <a:ext cx="5747810" cy="24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5. Empirical Field Tests &amp; Verification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08147" y="3026882"/>
            <a:ext cx="5613260" cy="1204022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Sustained Load Benchmarks: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Stress testing across 10,000,000 multi-format events verified 301,420 EPS sustained on standard commodity hardware.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2"/>
              </a:rPr>
              <a:t>[GitHub Test Logs ↗]</a:t>
            </a:r>
            <a:endParaRPr lang="en-US" sz="1200" b="1" u="sng" dirty="0">
              <a:solidFill>
                <a:schemeClr val="accent5"/>
              </a:solidFill>
            </a:endParaRP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Zero-Drop Integrity: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Rigorous validation confirmed 0.000% dropped records across 680 comprehensive unit and integration test suites.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2"/>
              </a:rPr>
              <a:t>[PyTest Report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Cryptographic Performance: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Merkle-DAG proof generation verified 1,000,000 records in &lt;1.2 seconds using SIMD SHA-256 acceleration.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2"/>
              </a:rPr>
              <a:t>[Benchmark Code ↗]</a:t>
            </a:r>
          </a:p>
        </p:txBody>
      </p:sp>
      <p:sp>
        <p:nvSpPr>
          <p:cNvPr id="20" name="Shape 17"/>
          <p:cNvSpPr/>
          <p:nvPr/>
        </p:nvSpPr>
        <p:spPr>
          <a:xfrm>
            <a:off x="133600" y="4650017"/>
            <a:ext cx="5783864" cy="1726924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125430" y="4751710"/>
            <a:ext cx="5792034" cy="242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3. Algorithmic Complexity &amp; Architecture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27463" y="5035155"/>
            <a:ext cx="5614467" cy="1301315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Complexity Bounds: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Proven algorithmic bounds: Traditional PCRE parsers degrade to O(2^N); ULPF’s DFA kernels guarantee deterministic O(N) linear time. </a:t>
            </a:r>
            <a:endParaRPr lang="en-US" sz="1200" dirty="0"/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Cryptographic Batch Verification: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Bellare et al., "Fast Batch Verification for Digital Signatures" (EUROCRYPT) applied to micro-batched Merkle trees.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3"/>
              </a:rPr>
              <a:t>[IACR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Zero-Copy Memory Semantics: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Linux Kernel io_uring and DPDK user-space ring buffer primitives for multi-gigabit intake without socket bottlenecks.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4"/>
              </a:rPr>
              <a:t>[Kernel.org ↗]</a:t>
            </a:r>
          </a:p>
        </p:txBody>
      </p:sp>
      <p:sp>
        <p:nvSpPr>
          <p:cNvPr id="23" name="Shape 20"/>
          <p:cNvSpPr/>
          <p:nvPr/>
        </p:nvSpPr>
        <p:spPr>
          <a:xfrm>
            <a:off x="6249680" y="4556012"/>
            <a:ext cx="5799758" cy="1820203"/>
          </a:xfrm>
          <a:prstGeom prst="roundRect">
            <a:avLst>
              <a:gd name="adj" fmla="val 2077"/>
            </a:avLst>
          </a:prstGeom>
          <a:solidFill>
            <a:srgbClr val="EAF2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6273645" y="4682710"/>
            <a:ext cx="5775793" cy="237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sz="1550" b="1" noProof="1">
                <a:solidFill>
                  <a:srgbClr val="1F497D"/>
                </a:solidFill>
                <a:latin typeface="Carlito"/>
              </a:rPr>
              <a:t>6. Statutory &amp; Policy Alignment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273646" y="4983403"/>
            <a:ext cx="5613260" cy="1279373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algn="just">
              <a:lnSpc>
                <a:spcPct val="105000"/>
              </a:lnSpc>
              <a:spcAft>
                <a:spcPts val="250"/>
              </a:spcAft>
              <a:buSzPct val="100000"/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BSA 2023 §63 / IEA §65B: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Automated electronic certificate generation with cryptographic non-repudiation for Indian courtroom admissibility.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5"/>
              </a:rPr>
              <a:t>[e-Gazette ↗]</a:t>
            </a:r>
            <a:endParaRPr lang="en-US" sz="1200" b="1" u="sng" dirty="0">
              <a:solidFill>
                <a:schemeClr val="accent5"/>
              </a:solidFill>
            </a:endParaRP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CERT-In Directive No. 20(3)/2022: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Fully satisfies mandatory 180-day secure log preservation and NPL-synchronized NTP timestamping.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5"/>
              </a:rPr>
              <a:t>[CERT-In Gazette ↗]</a:t>
            </a:r>
          </a:p>
          <a:p>
            <a:pPr algn="just">
              <a:lnSpc>
                <a:spcPct val="105000"/>
              </a:lnSpc>
              <a:spcAft>
                <a:spcPts val="250"/>
              </a:spcAft>
            </a:pPr>
            <a:r>
              <a:rPr sz="1200" noProof="1">
                <a:solidFill>
                  <a:srgbClr val="0A192F"/>
                </a:solidFill>
                <a:latin typeface="Carlito"/>
              </a:rPr>
              <a:t>• </a:t>
            </a:r>
            <a:r>
              <a:rPr sz="1200" b="1" noProof="1">
                <a:solidFill>
                  <a:srgbClr val="0A192F"/>
                </a:solidFill>
                <a:latin typeface="Carlito"/>
              </a:rPr>
              <a:t>DPDP Act 2023 Compliance: </a:t>
            </a:r>
            <a:r>
              <a:rPr sz="1200" noProof="1">
                <a:solidFill>
                  <a:srgbClr val="1E293B"/>
                </a:solidFill>
                <a:latin typeface="Carlito"/>
              </a:rPr>
              <a:t>Built-in automated PII masking engine scrubs IP addresses, Aadhaar, PAN, and credentials before long-term indexing. </a:t>
            </a:r>
            <a:r>
              <a:rPr sz="1200" b="1" u="sng" noProof="1">
                <a:solidFill>
                  <a:srgbClr val="0E74DE"/>
                </a:solidFill>
                <a:latin typeface="Carlito"/>
                <a:hlinkClick r:id="rId16"/>
              </a:rPr>
              <a:t>[MeitY ↗]</a:t>
            </a:r>
          </a:p>
        </p:txBody>
      </p:sp>
      <p:sp>
        <p:nvSpPr>
          <p:cNvPr id="26" name="Text 23"/>
          <p:cNvSpPr/>
          <p:nvPr/>
        </p:nvSpPr>
        <p:spPr>
          <a:xfrm>
            <a:off x="11413443" y="6594775"/>
            <a:ext cx="686874" cy="164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Oval 31" descr="Your startup LOGO">
            <a:extLst>
              <a:ext uri="{FF2B5EF4-FFF2-40B4-BE49-F238E27FC236}">
                <a16:creationId xmlns:a16="http://schemas.microsoft.com/office/drawing/2014/main" id="{09DB9BCE-2EAC-47C0-3361-4EA1AFED7A5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9525" y="44748"/>
            <a:ext cx="1834558" cy="42435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Team Victory</a:t>
            </a:r>
            <a:endParaRPr lang="en-US" sz="16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75078D2-4700-9FC4-32C8-5440B2CCB8C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20708" y="8633"/>
            <a:ext cx="1608867" cy="451346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7A7BE0B-4081-7BD6-D98D-00C3433ECC5A}"/>
              </a:ext>
            </a:extLst>
          </p:cNvPr>
          <p:cNvCxnSpPr>
            <a:cxnSpLocks/>
          </p:cNvCxnSpPr>
          <p:nvPr/>
        </p:nvCxnSpPr>
        <p:spPr>
          <a:xfrm flipV="1">
            <a:off x="-8626" y="521529"/>
            <a:ext cx="12200626" cy="36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DA85F00-E4E6-31F7-252D-AFC2C15F152C}"/>
              </a:ext>
            </a:extLst>
          </p:cNvPr>
          <p:cNvCxnSpPr>
            <a:cxnSpLocks/>
          </p:cNvCxnSpPr>
          <p:nvPr/>
        </p:nvCxnSpPr>
        <p:spPr>
          <a:xfrm flipH="1">
            <a:off x="6095924" y="548903"/>
            <a:ext cx="152" cy="593028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30">
            <a:extLst>
              <a:ext uri="{FF2B5EF4-FFF2-40B4-BE49-F238E27FC236}">
                <a16:creationId xmlns:a16="http://schemas.microsoft.com/office/drawing/2014/main" id="{3615B35B-F16A-8AC7-1BA8-B35F08FBED30}"/>
              </a:ext>
            </a:extLst>
          </p:cNvPr>
          <p:cNvCxnSpPr>
            <a:cxnSpLocks/>
          </p:cNvCxnSpPr>
          <p:nvPr/>
        </p:nvCxnSpPr>
        <p:spPr>
          <a:xfrm>
            <a:off x="14379" y="2742137"/>
            <a:ext cx="6087298" cy="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30">
            <a:extLst>
              <a:ext uri="{FF2B5EF4-FFF2-40B4-BE49-F238E27FC236}">
                <a16:creationId xmlns:a16="http://schemas.microsoft.com/office/drawing/2014/main" id="{0FE49DD2-FA92-ED0B-BA95-E604548021A4}"/>
              </a:ext>
            </a:extLst>
          </p:cNvPr>
          <p:cNvCxnSpPr>
            <a:cxnSpLocks/>
          </p:cNvCxnSpPr>
          <p:nvPr/>
        </p:nvCxnSpPr>
        <p:spPr>
          <a:xfrm>
            <a:off x="14379" y="4570931"/>
            <a:ext cx="6087298" cy="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30">
            <a:extLst>
              <a:ext uri="{FF2B5EF4-FFF2-40B4-BE49-F238E27FC236}">
                <a16:creationId xmlns:a16="http://schemas.microsoft.com/office/drawing/2014/main" id="{A3BABAF4-C4DD-7D07-BCFC-325C9993836A}"/>
              </a:ext>
            </a:extLst>
          </p:cNvPr>
          <p:cNvCxnSpPr>
            <a:cxnSpLocks/>
          </p:cNvCxnSpPr>
          <p:nvPr/>
        </p:nvCxnSpPr>
        <p:spPr>
          <a:xfrm>
            <a:off x="6104702" y="4482206"/>
            <a:ext cx="6087298" cy="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30">
            <a:extLst>
              <a:ext uri="{FF2B5EF4-FFF2-40B4-BE49-F238E27FC236}">
                <a16:creationId xmlns:a16="http://schemas.microsoft.com/office/drawing/2014/main" id="{622E1D15-4B04-C839-FA98-5CA91EB283F2}"/>
              </a:ext>
            </a:extLst>
          </p:cNvPr>
          <p:cNvCxnSpPr>
            <a:cxnSpLocks/>
          </p:cNvCxnSpPr>
          <p:nvPr/>
        </p:nvCxnSpPr>
        <p:spPr>
          <a:xfrm>
            <a:off x="6104702" y="2512750"/>
            <a:ext cx="6087298" cy="0"/>
          </a:xfrm>
          <a:prstGeom prst="line">
            <a:avLst/>
          </a:prstGeom>
          <a:ln w="9525">
            <a:solidFill>
              <a:srgbClr val="DB4455"/>
            </a:solidFill>
            <a:prstDash val="dash"/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2538</TotalTime>
  <Words>2437</Words>
  <Application>Microsoft Office PowerPoint</Application>
  <PresentationFormat>Widescreen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Times New Roman</vt:lpstr>
      <vt:lpstr>Tinos Bold</vt:lpstr>
      <vt:lpstr>Carlito</vt:lpstr>
      <vt:lpstr>EB Garamond Bold</vt:lpstr>
      <vt:lpstr>Arial</vt:lpstr>
      <vt:lpstr>Carlito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ANURAG SWAIN</dc:creator>
  <cp:lastModifiedBy>ANURAG SWAIN</cp:lastModifiedBy>
  <cp:revision>7</cp:revision>
  <dcterms:created xsi:type="dcterms:W3CDTF">2026-09-30T06:09:37Z</dcterms:created>
  <dcterms:modified xsi:type="dcterms:W3CDTF">2026-10-02T08:44:27Z</dcterms:modified>
</cp:coreProperties>
</file>