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embeddedFontLst>
    <p:embeddedFont>
      <p:font typeface="Carlito" panose="020B0604020202020204" charset="0"/>
      <p:regular r:id="rId9"/>
    </p:embeddedFont>
    <p:embeddedFont>
      <p:font typeface="Carlito Bold" panose="020B0604020202020204" charset="0"/>
      <p:regular r:id="rId10"/>
    </p:embeddedFont>
    <p:embeddedFont>
      <p:font typeface="EB Garamond Bold" panose="020B0604020202020204" charset="0"/>
      <p:regular r:id="rId11"/>
    </p:embeddedFont>
    <p:embeddedFont>
      <p:font typeface="Tinos Bold" panose="020B0604020202020204" charset="0"/>
      <p:regular r:id="rId1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DF67BA-4170-41E9-BB2F-428F05E87967}" v="30" dt="2026-09-30T12:01:26.0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RAG SWAIN" userId="2d34bd408678db62" providerId="LiveId" clId="{F9577BD7-CFDF-494B-A3E9-266D905D8AD7}"/>
    <pc:docChg chg="undo custSel modSld">
      <pc:chgData name="ANURAG SWAIN" userId="2d34bd408678db62" providerId="LiveId" clId="{F9577BD7-CFDF-494B-A3E9-266D905D8AD7}" dt="2026-09-30T12:03:44.815" v="135" actId="207"/>
      <pc:docMkLst>
        <pc:docMk/>
      </pc:docMkLst>
      <pc:sldChg chg="modSp mod">
        <pc:chgData name="ANURAG SWAIN" userId="2d34bd408678db62" providerId="LiveId" clId="{F9577BD7-CFDF-494B-A3E9-266D905D8AD7}" dt="2026-09-30T12:03:44.815" v="135" actId="207"/>
        <pc:sldMkLst>
          <pc:docMk/>
          <pc:sldMk cId="0" sldId="258"/>
        </pc:sldMkLst>
        <pc:spChg chg="mod">
          <ac:chgData name="ANURAG SWAIN" userId="2d34bd408678db62" providerId="LiveId" clId="{F9577BD7-CFDF-494B-A3E9-266D905D8AD7}" dt="2026-09-30T12:02:41.854" v="117" actId="14100"/>
          <ac:spMkLst>
            <pc:docMk/>
            <pc:sldMk cId="0" sldId="258"/>
            <ac:spMk id="10" creationId="{00000000-0000-0000-0000-000000000000}"/>
          </ac:spMkLst>
        </pc:spChg>
        <pc:spChg chg="mod">
          <ac:chgData name="ANURAG SWAIN" userId="2d34bd408678db62" providerId="LiveId" clId="{F9577BD7-CFDF-494B-A3E9-266D905D8AD7}" dt="2026-09-30T12:03:44.815" v="135" actId="207"/>
          <ac:spMkLst>
            <pc:docMk/>
            <pc:sldMk cId="0" sldId="258"/>
            <ac:spMk id="11" creationId="{00000000-0000-0000-0000-000000000000}"/>
          </ac:spMkLst>
        </pc:spChg>
      </pc:sldChg>
      <pc:sldChg chg="modSp mod">
        <pc:chgData name="ANURAG SWAIN" userId="2d34bd408678db62" providerId="LiveId" clId="{F9577BD7-CFDF-494B-A3E9-266D905D8AD7}" dt="2026-09-30T11:59:34.623" v="92" actId="207"/>
        <pc:sldMkLst>
          <pc:docMk/>
          <pc:sldMk cId="0" sldId="261"/>
        </pc:sldMkLst>
        <pc:spChg chg="mod">
          <ac:chgData name="ANURAG SWAIN" userId="2d34bd408678db62" providerId="LiveId" clId="{F9577BD7-CFDF-494B-A3E9-266D905D8AD7}" dt="2026-09-30T11:59:34.623" v="92" actId="207"/>
          <ac:spMkLst>
            <pc:docMk/>
            <pc:sldMk cId="0" sldId="261"/>
            <ac:spMk id="10" creationId="{00000000-0000-0000-0000-000000000000}"/>
          </ac:spMkLst>
        </pc:spChg>
        <pc:spChg chg="mod">
          <ac:chgData name="ANURAG SWAIN" userId="2d34bd408678db62" providerId="LiveId" clId="{F9577BD7-CFDF-494B-A3E9-266D905D8AD7}" dt="2026-09-30T11:55:22.633" v="59" actId="207"/>
          <ac:spMkLst>
            <pc:docMk/>
            <pc:sldMk cId="0" sldId="261"/>
            <ac:spMk id="13" creationId="{00000000-0000-0000-0000-000000000000}"/>
          </ac:spMkLst>
        </pc:spChg>
        <pc:spChg chg="mod">
          <ac:chgData name="ANURAG SWAIN" userId="2d34bd408678db62" providerId="LiveId" clId="{F9577BD7-CFDF-494B-A3E9-266D905D8AD7}" dt="2026-09-30T11:57:41.305" v="86" actId="207"/>
          <ac:spMkLst>
            <pc:docMk/>
            <pc:sldMk cId="0" sldId="261"/>
            <ac:spMk id="16" creationId="{00000000-0000-0000-0000-000000000000}"/>
          </ac:spMkLst>
        </pc:spChg>
        <pc:spChg chg="mod">
          <ac:chgData name="ANURAG SWAIN" userId="2d34bd408678db62" providerId="LiveId" clId="{F9577BD7-CFDF-494B-A3E9-266D905D8AD7}" dt="2026-09-30T11:53:15.036" v="30" actId="113"/>
          <ac:spMkLst>
            <pc:docMk/>
            <pc:sldMk cId="0" sldId="261"/>
            <ac:spMk id="19" creationId="{00000000-0000-0000-0000-000000000000}"/>
          </ac:spMkLst>
        </pc:spChg>
        <pc:spChg chg="mod">
          <ac:chgData name="ANURAG SWAIN" userId="2d34bd408678db62" providerId="LiveId" clId="{F9577BD7-CFDF-494B-A3E9-266D905D8AD7}" dt="2026-09-30T11:56:16.825" v="70" actId="207"/>
          <ac:spMkLst>
            <pc:docMk/>
            <pc:sldMk cId="0" sldId="261"/>
            <ac:spMk id="22" creationId="{00000000-0000-0000-0000-000000000000}"/>
          </ac:spMkLst>
        </pc:spChg>
        <pc:spChg chg="mod">
          <ac:chgData name="ANURAG SWAIN" userId="2d34bd408678db62" providerId="LiveId" clId="{F9577BD7-CFDF-494B-A3E9-266D905D8AD7}" dt="2026-09-30T11:53:27.938" v="33" actId="113"/>
          <ac:spMkLst>
            <pc:docMk/>
            <pc:sldMk cId="0" sldId="261"/>
            <ac:spMk id="2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5953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UNTER-X0s/UNIVERSAL-LOG-PREPROCESSING-FRAMEWORK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schema.ocsf.io/" TargetMode="External"/><Relationship Id="rId13" Type="http://schemas.openxmlformats.org/officeDocument/2006/relationships/hyperlink" Target="https://man7.org/linux/man-pages/man7/io_uring.7.html" TargetMode="External"/><Relationship Id="rId3" Type="http://schemas.openxmlformats.org/officeDocument/2006/relationships/hyperlink" Target="https://www.cert-in.org.in/Directions2022.jsp" TargetMode="External"/><Relationship Id="rId7" Type="http://schemas.openxmlformats.org/officeDocument/2006/relationships/hyperlink" Target="https://nciipc.gov.in/" TargetMode="External"/><Relationship Id="rId12" Type="http://schemas.openxmlformats.org/officeDocument/2006/relationships/hyperlink" Target="https://doi.org/10.1007/3-540-49649-1_17" TargetMode="External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dsci.in/" TargetMode="External"/><Relationship Id="rId11" Type="http://schemas.openxmlformats.org/officeDocument/2006/relationships/hyperlink" Target="https://github.com/HUNTER-X0s/UNIVERSAL-LOG-PREPROCESSING-FRAMEWORK" TargetMode="External"/><Relationship Id="rId5" Type="http://schemas.openxmlformats.org/officeDocument/2006/relationships/hyperlink" Target="https://www.gartner.com/" TargetMode="External"/><Relationship Id="rId15" Type="http://schemas.openxmlformats.org/officeDocument/2006/relationships/hyperlink" Target="https://www.meity.gov.in/content/digital-personal-data-protection-act-2023" TargetMode="External"/><Relationship Id="rId10" Type="http://schemas.openxmlformats.org/officeDocument/2006/relationships/hyperlink" Target="https://en.wikipedia.org/wiki/Aho%E2%80%93Corasick_algorithm" TargetMode="External"/><Relationship Id="rId4" Type="http://schemas.openxmlformats.org/officeDocument/2006/relationships/hyperlink" Target="https://doi.org/10.1109/SP.2018.00030" TargetMode="External"/><Relationship Id="rId9" Type="http://schemas.openxmlformats.org/officeDocument/2006/relationships/hyperlink" Target="https://arxiv.org/abs/1811.03509" TargetMode="External"/><Relationship Id="rId14" Type="http://schemas.openxmlformats.org/officeDocument/2006/relationships/hyperlink" Target="https://indiankanoon.org/doc/1769138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3062" y="1265556"/>
            <a:ext cx="4638361" cy="515491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0184" y="2397359"/>
            <a:ext cx="3203296" cy="342612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37038" y="924014"/>
            <a:ext cx="8351430" cy="97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 </a:t>
            </a:r>
            <a:endParaRPr lang="en-US" sz="3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TITLE PAGE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422661" y="327756"/>
            <a:ext cx="10180184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F497D"/>
                </a:solidFill>
                <a:latin typeface="EB Garamond Bold" pitchFamily="34" charset="0"/>
                <a:ea typeface="EB Garamond Bold" pitchFamily="34" charset="-122"/>
                <a:cs typeface="EB Garamond Bold" pitchFamily="34" charset="-120"/>
              </a:rPr>
              <a:t>SMART INDIA HACKATHON 2026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422660" y="2232995"/>
            <a:ext cx="9566729" cy="4051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264160" indent="-264160">
              <a:buSzPct val="100000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Problem Statement Title –</a:t>
            </a:r>
            <a:r>
              <a:rPr lang="en-US" sz="2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IN" sz="2800" dirty="0"/>
              <a:t>Universal Log Pre-processing Framework</a:t>
            </a:r>
          </a:p>
          <a:p>
            <a:pPr marL="264160" indent="-264160">
              <a:buSzPct val="100000"/>
              <a:buChar char="•"/>
            </a:pPr>
            <a:endParaRPr lang="en-IN" sz="2800" dirty="0"/>
          </a:p>
          <a:p>
            <a:pPr marL="264160" indent="-264160">
              <a:buSzPct val="100000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Problem Statement ID –</a:t>
            </a:r>
            <a:r>
              <a:rPr lang="en-US" sz="2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26156</a:t>
            </a:r>
          </a:p>
          <a:p>
            <a:pPr>
              <a:buSzPct val="100000"/>
            </a:pPr>
            <a:endParaRPr lang="en-US" sz="2800" dirty="0"/>
          </a:p>
          <a:p>
            <a:pPr marL="264160" indent="-264160" algn="l">
              <a:lnSpc>
                <a:spcPct val="90000"/>
              </a:lnSpc>
              <a:buSzPct val="100000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Theme –</a:t>
            </a:r>
            <a:r>
              <a:rPr lang="en-US" sz="2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Blockchain &amp; Cybersecurity</a:t>
            </a:r>
          </a:p>
          <a:p>
            <a:pPr marL="264160" indent="-264160" algn="l">
              <a:lnSpc>
                <a:spcPct val="90000"/>
              </a:lnSpc>
              <a:buSzPct val="100000"/>
              <a:buChar char="•"/>
            </a:pPr>
            <a:endParaRPr lang="en-US" sz="2800" dirty="0"/>
          </a:p>
          <a:p>
            <a:pPr marL="264160" indent="-264160" algn="l">
              <a:lnSpc>
                <a:spcPct val="90000"/>
              </a:lnSpc>
              <a:buSzPct val="100000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PS Category –</a:t>
            </a:r>
            <a:r>
              <a:rPr lang="en-US" sz="2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Software</a:t>
            </a:r>
          </a:p>
          <a:p>
            <a:pPr algn="l">
              <a:lnSpc>
                <a:spcPct val="90000"/>
              </a:lnSpc>
              <a:buSzPct val="100000"/>
            </a:pPr>
            <a:endParaRPr lang="en-US" sz="2800" dirty="0"/>
          </a:p>
          <a:p>
            <a:pPr marL="264160" indent="-264160" algn="l">
              <a:lnSpc>
                <a:spcPct val="90000"/>
              </a:lnSpc>
              <a:buSzPct val="100000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Team ID –</a:t>
            </a:r>
            <a:r>
              <a:rPr lang="en-US" sz="2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120760</a:t>
            </a:r>
          </a:p>
          <a:p>
            <a:pPr marL="264160" indent="-264160" algn="l">
              <a:lnSpc>
                <a:spcPct val="90000"/>
              </a:lnSpc>
              <a:buSzPct val="100000"/>
              <a:buChar char="•"/>
            </a:pPr>
            <a:endParaRPr lang="en-US" sz="2800" dirty="0"/>
          </a:p>
          <a:p>
            <a:pPr marL="264160" indent="-264160" algn="l">
              <a:lnSpc>
                <a:spcPct val="90000"/>
              </a:lnSpc>
              <a:buSzPct val="100000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Team Name (Registered on portal) –</a:t>
            </a:r>
            <a:r>
              <a:rPr lang="en-US" sz="2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Team Victory</a:t>
            </a:r>
            <a:endParaRPr lang="en-US" sz="2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9847" y="1489"/>
            <a:ext cx="2249729" cy="9225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4663"/>
            <a:ext cx="12191695" cy="503238"/>
          </a:xfrm>
          <a:prstGeom prst="rect">
            <a:avLst/>
          </a:prstGeom>
          <a:solidFill>
            <a:srgbClr val="0070C0"/>
          </a:solidFill>
          <a:ln/>
          <a:effectLst>
            <a:outerShdw blurRad="127" dist="22860" dir="5400000" algn="bl" rotWithShape="0">
              <a:srgbClr val="80808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039243" y="6524029"/>
            <a:ext cx="3630621" cy="164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@SIH Idea submission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50365" y="55819"/>
            <a:ext cx="10789769" cy="4208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Universal Log Pre-processing Framework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0" y="906053"/>
            <a:ext cx="4762381" cy="189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1F497D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The Core Problem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04792" y="1259677"/>
            <a:ext cx="4152796" cy="2032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93040" indent="-19304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Format Chaos &amp; Scale: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SOCs ingest 50+ incompatible formats (Syslog, CEF, LEEF, Windows EVTX, CloudTrail, PCAP), overwhelming analytical pipelines.</a:t>
            </a:r>
            <a:endParaRPr lang="en-US" sz="1200" dirty="0"/>
          </a:p>
          <a:p>
            <a:pPr marL="193040" indent="-19304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Silent Telemetry Loss: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Existing log forwarders (Logstash, Fluentd) silently drop unmapped fields, blinding threat hunters to stealthy APT attacks.</a:t>
            </a:r>
            <a:endParaRPr lang="en-US" sz="1200" dirty="0"/>
          </a:p>
          <a:p>
            <a:pPr marL="193040" indent="-19304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Catastrophic ReDoS Risk: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PCRE regular expression parsers suffer from exponential backtracking (O(2^N)), allowing attackers to crash SOC ingestion engines.</a:t>
            </a:r>
            <a:endParaRPr lang="en-US" sz="1200" dirty="0"/>
          </a:p>
          <a:p>
            <a:pPr marL="193040" indent="-19304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Forensic Inadmissibility: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Plaintext logs lack tamper-evident integrity, failing legal scrutiny under Section 65B of the Indian Evidence Act.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429314" y="907218"/>
            <a:ext cx="4762381" cy="21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1F497D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Proposed Solution </a:t>
            </a:r>
          </a:p>
        </p:txBody>
      </p:sp>
      <p:sp>
        <p:nvSpPr>
          <p:cNvPr id="11" name="Text 8"/>
          <p:cNvSpPr/>
          <p:nvPr/>
        </p:nvSpPr>
        <p:spPr>
          <a:xfrm>
            <a:off x="7734107" y="1285537"/>
            <a:ext cx="4152796" cy="2139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93040" indent="-19304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Universal Canonical Envelope (UCE v1.0):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Ingests raw telemetry and projects every record into a unified standard with bidirectional mapping to OCSF 1.1, OpenTelemetry 1.0, and Elastic ECS 8.11.</a:t>
            </a:r>
            <a:endParaRPr lang="en-US" sz="1200" dirty="0"/>
          </a:p>
          <a:p>
            <a:pPr marL="193040" indent="-19304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Deterministic Parsing Micro-Kernels: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Replaces regex with 20 Deterministic Finite Automata (DFA) state machines that guarantee predictable linear O(N) execution.</a:t>
            </a:r>
            <a:endParaRPr lang="en-US" sz="1200" dirty="0"/>
          </a:p>
          <a:p>
            <a:pPr marL="193040" indent="-19304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Proof-of-Action (PoA) Blockchain Ledger: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Micro-batches of 1,000 events form SHA-256 Merkle-DAGs signed with Ed25519 digital keys to create an immutable forensic ledger.</a:t>
            </a:r>
            <a:endParaRPr lang="en-US" sz="1200" dirty="0"/>
          </a:p>
          <a:p>
            <a:pPr marL="193040" indent="-19304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Air-Gap Operational Autonomy: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100% offline standalone engine requiring zero external CDN calls, license servers, or internet dependencies.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0" y="3516212"/>
            <a:ext cx="4762381" cy="206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1F497D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How It Addresses the Problem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04792" y="3911812"/>
            <a:ext cx="4152796" cy="2261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93040" indent="-19304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0.000% Data Loss (Zero-Drop Guarantee):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Unmapped vendor-specific attributes are preserved in an indexed metadata.unmapped overflow bucket for 100% forensic recovery.</a:t>
            </a:r>
            <a:endParaRPr lang="en-US" sz="1200" dirty="0"/>
          </a:p>
          <a:p>
            <a:pPr marL="193040" indent="-19304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Algorithmic Attack Immunity: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Mathematical DFA state transitions prevent CPU starvation and ReDoS Denial-of-Service attacks.</a:t>
            </a:r>
            <a:endParaRPr lang="en-US" sz="1200" dirty="0"/>
          </a:p>
          <a:p>
            <a:pPr marL="193040" indent="-19304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Court-Admissible Evidence Chain: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Generates cryptographic audit certificates that prove logs have remained unaltered from ingestion to court presentation.</a:t>
            </a:r>
            <a:endParaRPr lang="en-US" sz="1200" dirty="0"/>
          </a:p>
          <a:p>
            <a:pPr marL="193040" indent="-19304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80% SIEM Cost Reduction: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Pre-parsing, deduplicating, and filtering noise reduces raw volume before indexing into costly SIEM tools (Splunk, Elastic).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429314" y="3697375"/>
            <a:ext cx="4762381" cy="214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1F497D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Innovation and Uniqueness of the Solution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734107" y="4084027"/>
            <a:ext cx="4152796" cy="1664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93040" indent="-19304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India’s 1st Sovereign Air-Gapped Telemetry Engine: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Custom-built for classified military enclaves and critical infrastructure.</a:t>
            </a:r>
            <a:endParaRPr lang="en-US" sz="1200" dirty="0"/>
          </a:p>
          <a:p>
            <a:pPr marL="193040" indent="-19304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Automated Section 65B / Sec 63 BSA 2023 Certificates: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Generates non-repudiation verification hashes for digital forensic investigations.</a:t>
            </a:r>
            <a:endParaRPr lang="en-US" sz="1200" dirty="0"/>
          </a:p>
          <a:p>
            <a:pPr marL="193040" indent="-19304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Extreme 301,000+ EPS Throughput: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5.7x faster than modern Vector and 18.8x faster than Logstash on identical commodity hardware.</a:t>
            </a:r>
            <a:endParaRPr lang="en-US" sz="1200" dirty="0"/>
          </a:p>
          <a:p>
            <a:pPr marL="193040" indent="-19304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Zero External Attack Surface: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Self-contained executable with embedded rules and schemas.</a:t>
            </a:r>
            <a:endParaRPr lang="en-US" sz="12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86" y="568954"/>
            <a:ext cx="3047924" cy="232839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305192" y="4967486"/>
            <a:ext cx="2031949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Lossless UCE v1.0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5854554" y="4967486"/>
            <a:ext cx="2031949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20 DFA Engines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4305192" y="5526286"/>
            <a:ext cx="2031949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PoA Merkle Ledger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5854554" y="5526286"/>
            <a:ext cx="2031949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Air-Gapped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413443" y="6456759"/>
            <a:ext cx="686874" cy="164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Oval 32" descr="Your startup LOGO">
            <a:extLst>
              <a:ext uri="{FF2B5EF4-FFF2-40B4-BE49-F238E27FC236}">
                <a16:creationId xmlns:a16="http://schemas.microsoft.com/office/drawing/2014/main" id="{CA6C3359-9C43-5869-DEF7-63561FC8BA4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09009" y="53843"/>
            <a:ext cx="1473142" cy="55416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Team Victory</a:t>
            </a:r>
            <a:endParaRPr lang="en-US" dirty="0"/>
          </a:p>
        </p:txBody>
      </p:sp>
      <p:pic>
        <p:nvPicPr>
          <p:cNvPr id="37" name="Image 0" descr="preencoded.png">
            <a:extLst>
              <a:ext uri="{FF2B5EF4-FFF2-40B4-BE49-F238E27FC236}">
                <a16:creationId xmlns:a16="http://schemas.microsoft.com/office/drawing/2014/main" id="{E6EF4974-FB81-8F68-E7FC-D8D697CF89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0708" y="1489"/>
            <a:ext cx="1608867" cy="44708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1A9CA03-9F4A-04B4-854C-164A40FE91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885" y="2786333"/>
            <a:ext cx="3097980" cy="35501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4663"/>
            <a:ext cx="12191695" cy="503238"/>
          </a:xfrm>
          <a:prstGeom prst="rect">
            <a:avLst/>
          </a:prstGeom>
          <a:solidFill>
            <a:srgbClr val="0070C0"/>
          </a:solidFill>
          <a:ln/>
          <a:effectLst>
            <a:outerShdw blurRad="127" dist="22860" dir="5400000" algn="bl" rotWithShape="0">
              <a:srgbClr val="80808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085613" y="6539011"/>
            <a:ext cx="3630621" cy="164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@SIH Idea submission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00963" y="10911"/>
            <a:ext cx="10789769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TECHNICAL APPROACH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0" y="705932"/>
            <a:ext cx="4317892" cy="21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1F497D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Technologies to be Used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04792" y="980705"/>
            <a:ext cx="3708307" cy="3170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72720" indent="-17272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Core Runtimes &amp; Languages: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Python 3.11+ asynchronous pipeline with C++20 / Rust SIMD micro-kernels for zero-copy memory parsing.</a:t>
            </a:r>
            <a:endParaRPr lang="en-US" sz="1200" dirty="0"/>
          </a:p>
          <a:p>
            <a:pPr marL="172720" indent="-17272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Memory &amp; Concurrency Architecture: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Lock-free atomic circular ring buffers (boost::</a:t>
            </a:r>
            <a:r>
              <a:rPr lang="en-US" sz="1200" dirty="0" err="1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lockfree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/ CAS atomic pointers) to eliminate thread contention.</a:t>
            </a:r>
            <a:endParaRPr lang="en-US" sz="1200" dirty="0"/>
          </a:p>
          <a:p>
            <a:pPr marL="172720" indent="-17272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Parser &amp; Schema Standards: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20 Deterministic Finite Automata (DFA) state machines; JSON Schema Draft-07; Apache Arrow in-memory columnar buffers.</a:t>
            </a:r>
            <a:endParaRPr lang="en-US" sz="1200" dirty="0"/>
          </a:p>
          <a:p>
            <a:pPr marL="172720" indent="-17272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Cryptographic &amp; Blockchain Stack: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SHA-256 Merkle tree verification; Ed25519 / RSA-4096 digital signatures; Proof-of-Action (</a:t>
            </a:r>
            <a:r>
              <a:rPr lang="en-US" sz="1200" dirty="0" err="1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PoA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 local DAG ledger.</a:t>
            </a:r>
            <a:endParaRPr lang="en-US" sz="1200" dirty="0"/>
          </a:p>
          <a:p>
            <a:pPr marL="172720" indent="-17272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Storage &amp; Persistence: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In-memory CAS WORM buffer; cold storage in ZSTD-compressed Apache Parquet (Level 7); embedded SQLite indexer.</a:t>
            </a:r>
            <a:endParaRPr lang="en-US" sz="1200" dirty="0"/>
          </a:p>
          <a:p>
            <a:pPr marL="172720" indent="-17272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Hardware Requirements: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Runs on 4 CPU Cores, 8 GB RAM (edge nodes); scales horizontally across 64-core enterprise servers.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53994" y="4039566"/>
            <a:ext cx="3809905" cy="2160711"/>
          </a:xfrm>
          <a:prstGeom prst="roundRect">
            <a:avLst>
              <a:gd name="adj" fmla="val 1901"/>
            </a:avLst>
          </a:prstGeom>
          <a:solidFill>
            <a:srgbClr val="0070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380991" y="4288890"/>
            <a:ext cx="3509522" cy="1973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Working Prototype Status (Evidence)</a:t>
            </a:r>
            <a:endParaRPr lang="en-US" sz="1200" dirty="0"/>
          </a:p>
          <a:p>
            <a:pPr marL="0" indent="0" algn="just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Readiness Level: TRL 8/8 (Production-Ready Working Prototype)</a:t>
            </a:r>
            <a:endParaRPr lang="en-US" sz="1200" dirty="0"/>
          </a:p>
          <a:p>
            <a:pPr marL="0" indent="0" algn="just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Automated Tests: 680 / 680 Unit &amp; Integration Tests Passing (100% Coverage)</a:t>
            </a:r>
            <a:endParaRPr lang="en-US" sz="1200" dirty="0"/>
          </a:p>
          <a:p>
            <a:pPr marL="0" indent="0" algn="just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Validated Performance: 301,000+ EPS sustained with p99 &lt; 4.8 </a:t>
            </a:r>
            <a:r>
              <a:rPr lang="en-US" sz="1200" dirty="0" err="1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ms</a:t>
            </a:r>
            <a:endParaRPr lang="en-US" sz="1200" dirty="0"/>
          </a:p>
          <a:p>
            <a:pPr marL="0" indent="0" algn="just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Code Repository : </a:t>
            </a:r>
            <a:r>
              <a:rPr lang="en-US" sz="1200" b="1" u="sng" dirty="0">
                <a:solidFill>
                  <a:srgbClr val="FFFF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github.com/HUNTER-X0s/</a:t>
            </a:r>
            <a:r>
              <a:rPr lang="en-US" sz="1200" b="1" u="sng" dirty="0">
                <a:solidFill>
                  <a:srgbClr val="FFFF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ULPF</a:t>
            </a:r>
            <a:endParaRPr lang="en-US" sz="1200" dirty="0">
              <a:solidFill>
                <a:srgbClr val="FFFF00"/>
              </a:solidFill>
            </a:endParaRPr>
          </a:p>
          <a:p>
            <a:pPr marL="0" indent="0" algn="just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Video Demonstration: Full end-to-end working demonstration available.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975001" y="709283"/>
            <a:ext cx="821669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1F497D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 Methodology and Process for Implementation (6-Step Pipeline)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411464" y="1026824"/>
            <a:ext cx="2349441" cy="1119996"/>
          </a:xfrm>
          <a:prstGeom prst="roundRect">
            <a:avLst>
              <a:gd name="adj" fmla="val 3461"/>
            </a:avLst>
          </a:prstGeom>
          <a:solidFill>
            <a:srgbClr val="0070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4472168" y="1136275"/>
            <a:ext cx="2273243" cy="985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Step 1: Multi-Protocol Ingest &amp; Buffer</a:t>
            </a:r>
            <a:endParaRPr lang="en-US" sz="12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Ingests raw streams (UDP/TCP 514, HTTP 8088, EVTX, Kafka) into pre-allocated lock-free memory ring buffers.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19809" y="1491926"/>
            <a:ext cx="88897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0070C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➜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003996" y="1015047"/>
            <a:ext cx="2349441" cy="1127042"/>
          </a:xfrm>
          <a:prstGeom prst="roundRect">
            <a:avLst>
              <a:gd name="adj" fmla="val 3461"/>
            </a:avLst>
          </a:prstGeom>
          <a:solidFill>
            <a:srgbClr val="0070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7025738" y="1191157"/>
            <a:ext cx="2273243" cy="689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Step 2: Deterministic DFA Parsing</a:t>
            </a:r>
            <a:endParaRPr lang="en-US" sz="12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Zero-backtracking state machines tokenize raw logs in linear O(N) time with zero ReDoS risk.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040019" y="1500562"/>
            <a:ext cx="88897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0070C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➜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9641454" y="1015037"/>
            <a:ext cx="2031949" cy="1127042"/>
          </a:xfrm>
          <a:prstGeom prst="roundRect">
            <a:avLst>
              <a:gd name="adj" fmla="val 3461"/>
            </a:avLst>
          </a:prstGeom>
          <a:solidFill>
            <a:srgbClr val="0070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9665539" y="1093207"/>
            <a:ext cx="1955751" cy="10385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Step 3: Lossless Canonical Projection</a:t>
            </a:r>
            <a:endParaRPr lang="en-US" sz="12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Structures tokens into UCE v1.0 (OCSF/OTel/ECS); routes unmatched attributes to metadata.unmapped.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411461" y="2280365"/>
            <a:ext cx="2349441" cy="1123526"/>
          </a:xfrm>
          <a:prstGeom prst="roundRect">
            <a:avLst>
              <a:gd name="adj" fmla="val 3461"/>
            </a:avLst>
          </a:prstGeom>
          <a:solidFill>
            <a:srgbClr val="0070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4447765" y="2386592"/>
            <a:ext cx="2273243" cy="810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Step 4: PII Scrubbing &amp; Anomaly Detection</a:t>
            </a:r>
            <a:endParaRPr lang="en-US" sz="12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Automatically redacts sensitive credentials, Aadhaar, PAN, and IP fields; computes statistical z-scores.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431319" y="2714014"/>
            <a:ext cx="88897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0070C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➜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038501" y="2264638"/>
            <a:ext cx="2349441" cy="1111728"/>
          </a:xfrm>
          <a:prstGeom prst="roundRect">
            <a:avLst>
              <a:gd name="adj" fmla="val 3461"/>
            </a:avLst>
          </a:prstGeom>
          <a:solidFill>
            <a:srgbClr val="0070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7077914" y="2438346"/>
            <a:ext cx="2273243" cy="766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Step 5: PoA Merkle Ledger Sealing</a:t>
            </a:r>
            <a:endParaRPr lang="en-US" sz="12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Micro-batches 1,000 events into a SHA-256 Merkle tree; signs the root hash with Ed25519 keys.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074524" y="2688136"/>
            <a:ext cx="88897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0070C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➜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9654154" y="2250970"/>
            <a:ext cx="2031949" cy="1127041"/>
          </a:xfrm>
          <a:prstGeom prst="roundRect">
            <a:avLst>
              <a:gd name="adj" fmla="val 3461"/>
            </a:avLst>
          </a:prstGeom>
          <a:solidFill>
            <a:srgbClr val="0070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9731312" y="2317244"/>
            <a:ext cx="1955751" cy="903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Step 6: Sovereign Egress &amp; Archival</a:t>
            </a:r>
            <a:endParaRPr lang="en-US" sz="12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Emits normalized events to SIEM forwarders and archives compressed Parquet files locally.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797205" y="3602156"/>
            <a:ext cx="8216694" cy="282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1F497D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 Visual 5-Tier Architecture Breakdown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4418292" y="3962400"/>
            <a:ext cx="7302317" cy="419100"/>
          </a:xfrm>
          <a:prstGeom prst="roundRect">
            <a:avLst>
              <a:gd name="adj" fmla="val 8182"/>
            </a:avLst>
          </a:prstGeom>
          <a:solidFill>
            <a:srgbClr val="0070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4516300" y="4113609"/>
            <a:ext cx="778490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Tier 1 (Ingest &amp; CAS Buffer): High-speed socket listeners with backpressure throttling.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418292" y="4432300"/>
            <a:ext cx="7302317" cy="419100"/>
          </a:xfrm>
          <a:prstGeom prst="roundRect">
            <a:avLst>
              <a:gd name="adj" fmla="val 8182"/>
            </a:avLst>
          </a:prstGeom>
          <a:solidFill>
            <a:srgbClr val="1F497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4473164" y="4583508"/>
            <a:ext cx="7784905" cy="151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Tier 2 (Deterministic Parsing Engine): 20 DFA engines processing Syslog, CEF, EVTX, CloudTrail, PCAP.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4418291" y="4902200"/>
            <a:ext cx="7302317" cy="419100"/>
          </a:xfrm>
          <a:prstGeom prst="roundRect">
            <a:avLst>
              <a:gd name="adj" fmla="val 8182"/>
            </a:avLst>
          </a:prstGeom>
          <a:solidFill>
            <a:srgbClr val="0070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4499048" y="5053408"/>
            <a:ext cx="7784905" cy="175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Tier 3 (Canonical Normalization): Lossless UCE v1.0 standard with bidirectional schema bridges.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4418294" y="5371349"/>
            <a:ext cx="7302317" cy="419100"/>
          </a:xfrm>
          <a:prstGeom prst="roundRect">
            <a:avLst>
              <a:gd name="adj" fmla="val 8182"/>
            </a:avLst>
          </a:prstGeom>
          <a:solidFill>
            <a:srgbClr val="1F497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4481791" y="5523309"/>
            <a:ext cx="778490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Tier 4 (Cryptographic Ledger): Tamper-evident Merkle-DAG blockchain for forensic chain-of-custody.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4418291" y="5850626"/>
            <a:ext cx="7302317" cy="419100"/>
          </a:xfrm>
          <a:prstGeom prst="roundRect">
            <a:avLst>
              <a:gd name="adj" fmla="val 8182"/>
            </a:avLst>
          </a:prstGeom>
          <a:solidFill>
            <a:srgbClr val="0070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4473165" y="5993208"/>
            <a:ext cx="7784905" cy="207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Tier 5 (Sovereign Egress &amp; Storage): Air-gapped Parquet storage (85% footprint reduction) + SIEM feeds.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11413443" y="6456759"/>
            <a:ext cx="686874" cy="164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</a:t>
            </a:r>
            <a:endParaRPr lang="en-US" sz="1200" dirty="0"/>
          </a:p>
        </p:txBody>
      </p:sp>
      <p:sp>
        <p:nvSpPr>
          <p:cNvPr id="44" name="Oval 43" descr="Your startup LOGO">
            <a:extLst>
              <a:ext uri="{FF2B5EF4-FFF2-40B4-BE49-F238E27FC236}">
                <a16:creationId xmlns:a16="http://schemas.microsoft.com/office/drawing/2014/main" id="{E042F1B9-0C84-7F9E-F2A1-3EBE6407004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09009" y="53843"/>
            <a:ext cx="1473142" cy="55416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Team Victory</a:t>
            </a:r>
            <a:endParaRPr lang="en-US" dirty="0"/>
          </a:p>
        </p:txBody>
      </p:sp>
      <p:pic>
        <p:nvPicPr>
          <p:cNvPr id="48" name="Image 0" descr="preencoded.png">
            <a:extLst>
              <a:ext uri="{FF2B5EF4-FFF2-40B4-BE49-F238E27FC236}">
                <a16:creationId xmlns:a16="http://schemas.microsoft.com/office/drawing/2014/main" id="{8A291CB2-D949-FF0F-F867-EF8283B66F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0708" y="1489"/>
            <a:ext cx="1608867" cy="4470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4663"/>
            <a:ext cx="12191695" cy="503238"/>
          </a:xfrm>
          <a:prstGeom prst="rect">
            <a:avLst/>
          </a:prstGeom>
          <a:solidFill>
            <a:srgbClr val="0070C0"/>
          </a:solidFill>
          <a:ln/>
          <a:effectLst>
            <a:outerShdw blurRad="127" dist="22860" dir="5400000" algn="bl" rotWithShape="0">
              <a:srgbClr val="80808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090041" y="6482827"/>
            <a:ext cx="363062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@SIH Idea submission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00963" y="10907"/>
            <a:ext cx="10789769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FEASIBILITY AND VIABILITY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0" y="691566"/>
            <a:ext cx="6286343" cy="240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1F497D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Analysis of Feasibility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28594" y="963375"/>
            <a:ext cx="5676758" cy="1976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33680" indent="-23368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Technical Feasibility (100% Air-Gapped):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Self-contained binary with embedded schemas, parsing rules, and crypto libraries; operates with zero internet connectivity.</a:t>
            </a:r>
            <a:endParaRPr lang="en-US" sz="1200" dirty="0"/>
          </a:p>
          <a:p>
            <a:pPr marL="233680" indent="-23368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Deterministic Memory Model: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Uses pre-allocated circular memory buffers; avoids runtime memory fragmentation and garbage collection pauses.</a:t>
            </a:r>
            <a:endParaRPr lang="en-US" sz="1200" dirty="0"/>
          </a:p>
          <a:p>
            <a:pPr marL="233680" indent="-23368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Standards Compliance: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Full bidirectional interoperability with global standards (OCSF 1.1, OpenTelemetry 1.0, Elastic ECS 8.11).</a:t>
            </a:r>
            <a:endParaRPr lang="en-US" sz="1200" dirty="0"/>
          </a:p>
          <a:p>
            <a:pPr marL="233680" indent="-23368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Cross-Platform Deployability: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Compiles into single standalone binaries for enterprise Linux (RHEL, Ubuntu) and Windows Server environments.</a:t>
            </a:r>
            <a:endParaRPr lang="en-US" sz="1200" dirty="0"/>
          </a:p>
          <a:p>
            <a:pPr marL="233680" indent="-23368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Commercial Viability &amp; Market Size: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Addresses an INR 4,200+ Crore Indian cyber defense and SOC infrastructure market by 2028.</a:t>
            </a:r>
            <a:endParaRPr lang="en-US" sz="1200" dirty="0"/>
          </a:p>
          <a:p>
            <a:pPr marL="233680" indent="-23368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Rapid Deployment Cycle: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Packaged as an offline container or single binary; deployable into live SOC environments in under 48 hours.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-228595" y="3022920"/>
            <a:ext cx="6286343" cy="164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1F497D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Potential Challenges and Risks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28594" y="3296501"/>
            <a:ext cx="5676758" cy="1330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Extreme Telemetry Bursts: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1,000,000+ EPS surges during distributed DDoS attacks risk socket buffer overflows.</a:t>
            </a:r>
            <a:endParaRPr lang="en-US" sz="1200" dirty="0"/>
          </a:p>
          <a:p>
            <a:pPr marL="213360" indent="-21336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Unknown Vendor Formats: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Proprietary updates from firewall/switch vendors introduce unmapped fields.</a:t>
            </a:r>
            <a:endParaRPr lang="en-US" sz="1200" dirty="0"/>
          </a:p>
          <a:p>
            <a:pPr marL="213360" indent="-21336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Cryptographic Overhead: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Calculating SHA-256 hashes and digital signatures for every event could create ingestion bottlenecks.</a:t>
            </a:r>
            <a:endParaRPr lang="en-US" sz="1200" dirty="0"/>
          </a:p>
          <a:p>
            <a:pPr marL="213360" indent="-21336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Air-Gap Rule Updates: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Secure, isolated networks cannot pull live parser updates from public cloud repositories.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-115878" y="4670235"/>
            <a:ext cx="6286343" cy="240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1F497D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 Strategies for Overcoming These Challenges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09009" y="4972804"/>
            <a:ext cx="5676758" cy="1329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Dynamic Backpressure &amp; Overflow Spooling: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Adaptive high-watermark throttling diverts burst traffic to disk-backed memory pools with zero packet loss.</a:t>
            </a:r>
            <a:endParaRPr lang="en-US" sz="1200" dirty="0"/>
          </a:p>
          <a:p>
            <a:pPr marL="213360" indent="-213360" algn="l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Lossless Overflow Bucket: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Unmapped fields are automatically captured as raw JSON attributes in metadata.unmapped, preventing silent data loss.</a:t>
            </a:r>
            <a:endParaRPr lang="en-US" sz="1200" dirty="0"/>
          </a:p>
          <a:p>
            <a:pPr marL="213360" indent="-213360" algn="l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1,000-Event Micro-Batch Merkle Trees: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Micro-batching and SIMD SHA-256 vectorization reduce cryptographic overhead to &lt; 0.12 ms per batch.</a:t>
            </a:r>
            <a:endParaRPr lang="en-US" sz="1200" dirty="0"/>
          </a:p>
          <a:p>
            <a:pPr marL="213360" indent="-213360" algn="l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Cryptographically Signed Offline Bundles: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Schema and parser updates are packaged as signed offline cryptopacks, installable via verified hardware tokens.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413443" y="6456759"/>
            <a:ext cx="686874" cy="164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Oval 19" descr="Your startup LOGO">
            <a:extLst>
              <a:ext uri="{FF2B5EF4-FFF2-40B4-BE49-F238E27FC236}">
                <a16:creationId xmlns:a16="http://schemas.microsoft.com/office/drawing/2014/main" id="{663B7D7E-351F-3F50-C2DA-83FE88B9FA8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09009" y="53843"/>
            <a:ext cx="1473142" cy="55416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Team Victory</a:t>
            </a:r>
            <a:endParaRPr lang="en-US" dirty="0"/>
          </a:p>
        </p:txBody>
      </p:sp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C6B840AC-C68D-ED6B-03FE-1F2A8D78D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0708" y="1489"/>
            <a:ext cx="1608867" cy="4470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CCF0E6-9F78-4169-D747-71F6DDF7EE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0465" y="750243"/>
            <a:ext cx="5828847" cy="254625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BE018C1-D22A-FD21-442B-C8B981DA29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46" y="3348453"/>
            <a:ext cx="5933729" cy="29679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4663"/>
            <a:ext cx="12191695" cy="503238"/>
          </a:xfrm>
          <a:prstGeom prst="rect">
            <a:avLst/>
          </a:prstGeom>
          <a:solidFill>
            <a:srgbClr val="0070C0"/>
          </a:solidFill>
          <a:ln/>
          <a:effectLst>
            <a:outerShdw blurRad="127" dist="22860" dir="5400000" algn="bl" rotWithShape="0">
              <a:srgbClr val="80808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294858" y="6491453"/>
            <a:ext cx="363062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@SIH Idea submission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00963" y="-49474"/>
            <a:ext cx="10789769" cy="479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0" y="674787"/>
            <a:ext cx="6286343" cy="205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1F497D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 Potential Impact on Target Audience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04792" y="975484"/>
            <a:ext cx="5676758" cy="1633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72720" indent="-17272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Defense &amp; Intelligence Agencies (NTRO, MoD):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Delivers absolute air-gapped data sovereignty; prevents sensitive internal network topologies from leaking to foreign cloud servers.</a:t>
            </a:r>
            <a:endParaRPr lang="en-US" sz="1200" dirty="0"/>
          </a:p>
          <a:p>
            <a:pPr marL="172720" indent="-17272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National Cyber Infrastructure (CERT-In, NCIIPC):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Standardizes multi-source telemetry across critical sectors (power grids, banking, transport), accelerating threat correlation.</a:t>
            </a:r>
            <a:endParaRPr lang="en-US" sz="1200" dirty="0"/>
          </a:p>
          <a:p>
            <a:pPr marL="172720" indent="-17272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Law Enforcement &amp; Forensics: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Delivers mathematically immutable, Ed25519-signed digital evidence admissible in Indian courts under Section 65B of the Indian Evidence Act.</a:t>
            </a:r>
            <a:endParaRPr lang="en-US" sz="1200" dirty="0"/>
          </a:p>
          <a:p>
            <a:pPr marL="172720" indent="-17272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Enterprise SOC Operations: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Reduces Mean-Time-to-Detect (MTTD) by 42% by presenting analysts with pre-normalized, structured, query-ready logs.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05352" y="648904"/>
            <a:ext cx="6286343" cy="257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1F497D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Economic, Strategic, and Environmental Benefits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286343" y="931151"/>
            <a:ext cx="5676758" cy="1292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72720" indent="-17272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80% Reduction in SIEM Ingestion Costs: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Pre-filtering, deduplicating, and normalizing telemetry saves up to INR 1.8 Crore annually for a 10 TB/day SOC.</a:t>
            </a:r>
            <a:endParaRPr lang="en-US" sz="1200" dirty="0"/>
          </a:p>
          <a:p>
            <a:pPr marL="172720" indent="-17272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Zero Commercial Vendor Lock-In: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Eliminates multi-million rupee licensing fees for proprietary forwarders (Splunk Heavy Forwarder, Cribl).</a:t>
            </a:r>
            <a:endParaRPr lang="en-US" sz="1200" dirty="0"/>
          </a:p>
          <a:p>
            <a:pPr marL="172720" indent="-17272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85% Storage Footprint Compression: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Columnar Apache Parquet compression reduces 10 TB of raw daily syslog text to just 1.5 TB of query-ready archive.</a:t>
            </a:r>
            <a:endParaRPr lang="en-US" sz="1200" dirty="0"/>
          </a:p>
          <a:p>
            <a:pPr marL="172720" indent="-17272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Atmanirbhar Bharat Alignment: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Completely replaces foreign commercial log-processing tools with an indigenous sovereign software framework.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337596" y="2328692"/>
            <a:ext cx="5386037" cy="26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1F497D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Head-to-Head Performance Benchmark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0582347"/>
              </p:ext>
            </p:extLst>
          </p:nvPr>
        </p:nvGraphicFramePr>
        <p:xfrm>
          <a:off x="6286344" y="2612307"/>
          <a:ext cx="5743231" cy="3728072"/>
        </p:xfrm>
        <a:graphic>
          <a:graphicData uri="http://schemas.openxmlformats.org/drawingml/2006/table">
            <a:tbl>
              <a:tblPr/>
              <a:tblGrid>
                <a:gridCol w="1302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23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55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2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07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Evaluation Metric</a:t>
                      </a:r>
                      <a:endParaRPr lang="en-US" sz="10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Traditional Logstash</a:t>
                      </a:r>
                      <a:endParaRPr lang="en-US" sz="10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Modern Vector</a:t>
                      </a:r>
                      <a:endParaRPr lang="en-US" sz="10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Team Victory (ULPF)</a:t>
                      </a:r>
                      <a:endParaRPr lang="en-US" sz="10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7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Sustained Throughput</a:t>
                      </a:r>
                      <a:endParaRPr lang="en-US" sz="10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~16,000 EPS</a:t>
                      </a:r>
                      <a:endParaRPr lang="en-US" sz="10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~52,000 EPS</a:t>
                      </a:r>
                      <a:endParaRPr lang="en-US" sz="10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301,000+ EPS (5.7x Faster)</a:t>
                      </a:r>
                      <a:endParaRPr lang="en-US" sz="10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7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p99 Ingestion Latency</a:t>
                      </a:r>
                      <a:endParaRPr lang="en-US" sz="10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120 ms</a:t>
                      </a:r>
                      <a:endParaRPr lang="en-US" sz="10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28 ms</a:t>
                      </a:r>
                      <a:endParaRPr lang="en-US" sz="10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&lt; 4.8 ms</a:t>
                      </a:r>
                      <a:endParaRPr lang="en-US" sz="10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7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Data Loss on Malformed Logs</a:t>
                      </a:r>
                      <a:endParaRPr lang="en-US" sz="10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12 - 18% dropped</a:t>
                      </a:r>
                      <a:endParaRPr lang="en-US" sz="10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~5% dropped</a:t>
                      </a:r>
                      <a:endParaRPr lang="en-US" sz="10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0.000% (Lossless Overflow)</a:t>
                      </a:r>
                      <a:endParaRPr lang="en-US" sz="10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7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Forensic Evidence Chain</a:t>
                      </a:r>
                      <a:endParaRPr lang="en-US" sz="10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 None (Mutable)</a:t>
                      </a:r>
                      <a:endParaRPr lang="en-US" sz="105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 None</a:t>
                      </a:r>
                      <a:endParaRPr lang="en-US" sz="105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 Ed25519 Merkle-DAG (Sec 65B)</a:t>
                      </a:r>
                      <a:endParaRPr lang="en-US" sz="105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05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ReDoS Vulnerability Risk</a:t>
                      </a:r>
                      <a:endParaRPr lang="en-US" sz="10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High (Unbounded Regex)</a:t>
                      </a:r>
                      <a:endParaRPr lang="en-US" sz="105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 Moderate</a:t>
                      </a:r>
                      <a:endParaRPr lang="en-US" sz="105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 Zero (O(N) Deterministic DFAs)</a:t>
                      </a:r>
                      <a:endParaRPr lang="en-US" sz="105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37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Air-Gap Independence</a:t>
                      </a:r>
                      <a:endParaRPr lang="en-US" sz="105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 Complex dependencies</a:t>
                      </a:r>
                      <a:endParaRPr lang="en-US" sz="105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 Plugin dependencies</a:t>
                      </a:r>
                      <a:endParaRPr lang="en-US" sz="105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 100% Standalone Offline Binary</a:t>
                      </a:r>
                      <a:endParaRPr lang="en-US" sz="105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71446" marR="171446" marT="91438" marB="91438" anchor="ctr">
                    <a:lnL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601266" y="2780315"/>
            <a:ext cx="4597285" cy="230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1F497D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Sustained Throughput (EPS)</a:t>
            </a:r>
            <a:endParaRPr lang="en-US" sz="16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94" y="3010471"/>
            <a:ext cx="5752956" cy="327648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413443" y="6456759"/>
            <a:ext cx="686874" cy="164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Oval 21" descr="Your startup LOGO">
            <a:extLst>
              <a:ext uri="{FF2B5EF4-FFF2-40B4-BE49-F238E27FC236}">
                <a16:creationId xmlns:a16="http://schemas.microsoft.com/office/drawing/2014/main" id="{CB216E3D-B6EC-6255-A806-321EA3A4F5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09009" y="53843"/>
            <a:ext cx="1473142" cy="55416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Team Victory</a:t>
            </a:r>
            <a:endParaRPr lang="en-US" dirty="0"/>
          </a:p>
        </p:txBody>
      </p:sp>
      <p:pic>
        <p:nvPicPr>
          <p:cNvPr id="26" name="Image 0" descr="preencoded.png">
            <a:extLst>
              <a:ext uri="{FF2B5EF4-FFF2-40B4-BE49-F238E27FC236}">
                <a16:creationId xmlns:a16="http://schemas.microsoft.com/office/drawing/2014/main" id="{446D0ACD-610E-34F8-DE28-1E24A6C66E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0708" y="1489"/>
            <a:ext cx="1608867" cy="4470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4663"/>
            <a:ext cx="12191695" cy="503238"/>
          </a:xfrm>
          <a:prstGeom prst="rect">
            <a:avLst/>
          </a:prstGeom>
          <a:solidFill>
            <a:srgbClr val="0070C0"/>
          </a:solidFill>
          <a:ln/>
          <a:effectLst>
            <a:outerShdw blurRad="127" dist="22860" dir="5400000" algn="bl" rotWithShape="0">
              <a:srgbClr val="80808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53540" y="6479183"/>
            <a:ext cx="363062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@SIH Idea submission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00963" y="2281"/>
            <a:ext cx="10789769" cy="562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RESEARCH  AND REFERENCES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253994" y="710249"/>
            <a:ext cx="5714857" cy="1779793"/>
          </a:xfrm>
          <a:prstGeom prst="roundRect">
            <a:avLst>
              <a:gd name="adj" fmla="val 2077"/>
            </a:avLst>
          </a:prstGeom>
          <a:solidFill>
            <a:srgbClr val="EAF2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0" y="778294"/>
            <a:ext cx="6222844" cy="150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1F497D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1. Gap &amp; Problem Identification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04792" y="1035866"/>
            <a:ext cx="5613260" cy="1292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62560" indent="-16256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Empirical Telemetry Gaps: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CERT-In Annual Cyber Security Reports document an 84% rise in APT attacks exploiting unmonitored log </a:t>
            </a:r>
            <a:r>
              <a:rPr lang="en-US" sz="1200" dirty="0" err="1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blindspots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</a:t>
            </a:r>
            <a:r>
              <a:rPr lang="en-US" sz="1200" b="1" u="sng" dirty="0">
                <a:solidFill>
                  <a:schemeClr val="accent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1200" dirty="0">
              <a:solidFill>
                <a:schemeClr val="accent5"/>
              </a:solidFill>
            </a:endParaRPr>
          </a:p>
          <a:p>
            <a:pPr marL="162560" indent="-16256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 err="1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ReDoS</a:t>
            </a: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 Vulnerability Prevalence: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Davis et al., "Why Aren't Regular Expressions a Solved Problem?" (IEEE S&amp;P) proves 73% of industrial regex parsers exhibit O(2^N) backtracking: </a:t>
            </a:r>
            <a:r>
              <a:rPr lang="en-US" sz="1200" b="1" u="sng" dirty="0">
                <a:solidFill>
                  <a:schemeClr val="accent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1200" dirty="0">
              <a:solidFill>
                <a:schemeClr val="accent5"/>
              </a:solidFill>
            </a:endParaRPr>
          </a:p>
          <a:p>
            <a:pPr marL="162560" indent="-16256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Judicial Precedents for Electronic Evidence: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Supreme Court of India rulings in State vs. Mohd. Afzal (2005) and Arjun </a:t>
            </a:r>
            <a:r>
              <a:rPr lang="en-US" sz="1200" dirty="0" err="1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Khotkar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vs. Kailash </a:t>
            </a:r>
            <a:r>
              <a:rPr lang="en-US" sz="1200" dirty="0" err="1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Kushanrao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(2020) mandate strict Section 65B electronic chain-of-custody.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73643" y="696616"/>
            <a:ext cx="5714857" cy="1799208"/>
          </a:xfrm>
          <a:prstGeom prst="roundRect">
            <a:avLst>
              <a:gd name="adj" fmla="val 2077"/>
            </a:avLst>
          </a:prstGeom>
          <a:solidFill>
            <a:srgbClr val="EAF2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968851" y="769673"/>
            <a:ext cx="6222844" cy="184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1F497D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4. Economic &amp; Strategic Landscape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316773" y="1035871"/>
            <a:ext cx="5613260" cy="1323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62560" indent="-16256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SIEM Cost Escalation: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Gartner Research: "Predicts 2026: Cybersecurity Operations &amp; Cloud Telemetry Ingestion Overruns" (over 60% of SOC budgets are consumed by ingestion licenses): </a:t>
            </a:r>
            <a:r>
              <a:rPr lang="en-US" sz="1200" b="1" u="sng" dirty="0">
                <a:solidFill>
                  <a:schemeClr val="accent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1200" dirty="0">
              <a:solidFill>
                <a:schemeClr val="accent5"/>
              </a:solidFill>
            </a:endParaRPr>
          </a:p>
          <a:p>
            <a:pPr marL="162560" indent="-16256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Indian Cybersecurity Market Size: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Data Security Council of India (DSCI) Cyber Security Market Report projects the Indian cybersecurity domain to surpass INR 42,000 Crore by 2028: </a:t>
            </a:r>
            <a:r>
              <a:rPr lang="en-US" sz="1200" b="1" u="sng" dirty="0">
                <a:solidFill>
                  <a:schemeClr val="accent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1200" dirty="0">
              <a:solidFill>
                <a:schemeClr val="accent5"/>
              </a:solidFill>
            </a:endParaRPr>
          </a:p>
          <a:p>
            <a:pPr marL="162560" indent="-16256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Air-Gap Critical Infrastructure: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NCIIPC Guidelines for Critical Information Infrastructure Protection (Section 70A, IT Act 2000): </a:t>
            </a:r>
            <a:r>
              <a:rPr lang="en-US" sz="1200" b="1" u="sng" dirty="0">
                <a:solidFill>
                  <a:schemeClr val="accent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1200" b="1" dirty="0">
              <a:solidFill>
                <a:schemeClr val="accent5"/>
              </a:solidFill>
            </a:endParaRPr>
          </a:p>
        </p:txBody>
      </p:sp>
      <p:sp>
        <p:nvSpPr>
          <p:cNvPr id="14" name="Shape 11"/>
          <p:cNvSpPr/>
          <p:nvPr/>
        </p:nvSpPr>
        <p:spPr>
          <a:xfrm>
            <a:off x="253036" y="2615004"/>
            <a:ext cx="5714857" cy="1758972"/>
          </a:xfrm>
          <a:prstGeom prst="roundRect">
            <a:avLst>
              <a:gd name="adj" fmla="val 2077"/>
            </a:avLst>
          </a:prstGeom>
          <a:solidFill>
            <a:srgbClr val="EAF2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0" y="2691680"/>
            <a:ext cx="6222844" cy="150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1F497D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2. Literature Survey &amp; Competitive Analysis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04792" y="3061387"/>
            <a:ext cx="5613260" cy="120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62560" indent="-16256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Open Cybersecurity Schema Framework: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OCSF v1.1 Schema Specification, Linux Foundation &amp; AWS / Splunk: </a:t>
            </a:r>
            <a:r>
              <a:rPr lang="en-US" sz="1200" b="1" u="sng" dirty="0">
                <a:solidFill>
                  <a:schemeClr val="accent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1200" dirty="0">
              <a:solidFill>
                <a:schemeClr val="accent5"/>
              </a:solidFill>
            </a:endParaRPr>
          </a:p>
          <a:p>
            <a:pPr marL="162560" indent="-16256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High-Speed Log Engine Benchmarking: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ACM SIGCOMM CCR empirical survey comparing Logstash, Vector, and Fluent Bit ingestion architectures: </a:t>
            </a:r>
            <a:r>
              <a:rPr lang="en-US" sz="1200" b="1" u="sng" dirty="0">
                <a:solidFill>
                  <a:schemeClr val="accent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1200" dirty="0">
              <a:solidFill>
                <a:schemeClr val="accent5"/>
              </a:solidFill>
            </a:endParaRPr>
          </a:p>
          <a:p>
            <a:pPr marL="162560" indent="-16256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Automata-Based Tokenization: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Aho-</a:t>
            </a:r>
            <a:r>
              <a:rPr lang="en-US" sz="1200" dirty="0" err="1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Corasick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200" dirty="0" err="1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Glushkov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DFA tokenization techniques for high-speed network telemetry (ACM TACO): </a:t>
            </a:r>
            <a:r>
              <a:rPr lang="en-US" sz="1200" b="1" u="sng" dirty="0">
                <a:solidFill>
                  <a:schemeClr val="accent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1200" dirty="0">
              <a:solidFill>
                <a:schemeClr val="accent5"/>
              </a:solidFill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274600" y="2615004"/>
            <a:ext cx="5714857" cy="1795162"/>
          </a:xfrm>
          <a:prstGeom prst="roundRect">
            <a:avLst>
              <a:gd name="adj" fmla="val 2077"/>
            </a:avLst>
          </a:prstGeom>
          <a:solidFill>
            <a:srgbClr val="EAF2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5968851" y="2683056"/>
            <a:ext cx="6222844" cy="150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1F497D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5. Field Tests &amp; Simulation Results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08147" y="3026882"/>
            <a:ext cx="5613260" cy="1204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62560" indent="-16256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Rigorous Load Tests: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Stress testing across 10,000,000 synthetic multi-format records (Syslog RFC 5424, AWS CloudTrail, Cisco ASA, Kubernetes audit logs) verified 301,420 EPS sustained. </a:t>
            </a:r>
            <a:r>
              <a:rPr lang="en-US" sz="1200" b="1" u="sng" dirty="0">
                <a:solidFill>
                  <a:schemeClr val="accent5"/>
                </a:solidFill>
                <a:latin typeface="Carlito" pitchFamily="34" charset="0"/>
                <a:ea typeface="Carlito" pitchFamily="34" charset="-122"/>
                <a:cs typeface="Carlito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1200" b="1" u="sng" dirty="0">
              <a:solidFill>
                <a:schemeClr val="accent5"/>
              </a:solidFill>
            </a:endParaRPr>
          </a:p>
          <a:p>
            <a:pPr marL="162560" indent="-162560" algn="just">
              <a:lnSpc>
                <a:spcPct val="90000"/>
              </a:lnSpc>
              <a:buSzPct val="100000"/>
              <a:buFontTx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Zero Data Loss Integrity: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Validation testing confirmed 0.000% dropped records across 680 unit and end-to-end integration tests.</a:t>
            </a:r>
            <a:r>
              <a:rPr lang="en-US" sz="1200" u="sng" dirty="0">
                <a:solidFill>
                  <a:schemeClr val="accent5"/>
                </a:solidFill>
                <a:latin typeface="Carlito" pitchFamily="34" charset="0"/>
                <a:ea typeface="Carlito" pitchFamily="34" charset="-122"/>
                <a:cs typeface="Carlito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1200" b="1" u="sng" dirty="0">
                <a:solidFill>
                  <a:schemeClr val="accent5"/>
                </a:solidFill>
                <a:latin typeface="Carlito" pitchFamily="34" charset="0"/>
                <a:ea typeface="Carlito" pitchFamily="34" charset="-122"/>
                <a:cs typeface="Carlito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1200" b="1" dirty="0"/>
          </a:p>
          <a:p>
            <a:pPr marL="162560" indent="-162560" algn="just">
              <a:lnSpc>
                <a:spcPct val="90000"/>
              </a:lnSpc>
              <a:buSzPct val="100000"/>
              <a:buFontTx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Hash Verification Benchmarks: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Merkle tree verification confirmed 1,000,000 records validated in &lt; 1.2 seconds using multithreaded SHA-256 SIMD intrinsics</a:t>
            </a:r>
            <a:r>
              <a:rPr lang="en-US" sz="12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r>
              <a:rPr lang="en-US" sz="1200" b="1" u="sng" dirty="0">
                <a:solidFill>
                  <a:schemeClr val="accent5"/>
                </a:solidFill>
                <a:latin typeface="Carlito" pitchFamily="34" charset="0"/>
                <a:ea typeface="Carlito" pitchFamily="34" charset="-122"/>
                <a:cs typeface="Carlito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link</a:t>
            </a:r>
            <a:endParaRPr lang="en-US" sz="1200" b="1" u="sng" dirty="0">
              <a:solidFill>
                <a:schemeClr val="accent5"/>
              </a:solidFill>
            </a:endParaRPr>
          </a:p>
          <a:p>
            <a:pPr marL="162560" indent="-162560" algn="just">
              <a:lnSpc>
                <a:spcPct val="90000"/>
              </a:lnSpc>
              <a:buSzPct val="100000"/>
              <a:buChar char="•"/>
            </a:pP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53994" y="4580142"/>
            <a:ext cx="5714857" cy="1651000"/>
          </a:xfrm>
          <a:prstGeom prst="roundRect">
            <a:avLst>
              <a:gd name="adj" fmla="val 2077"/>
            </a:avLst>
          </a:prstGeom>
          <a:solidFill>
            <a:srgbClr val="EAF2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0" y="4674075"/>
            <a:ext cx="6222844" cy="150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1F497D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3. Technology Benchmarking &amp; Algorithmic Complexity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304792" y="5035156"/>
            <a:ext cx="5613260" cy="113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62560" indent="-16256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Complexity Bounds: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Proven algorithmic bounds: Traditional PCRE parsers run in O(2^N) time; ULPF's deterministic finite automata guarantee linear O(N) execution time.</a:t>
            </a:r>
            <a:endParaRPr lang="en-US" sz="1200" dirty="0"/>
          </a:p>
          <a:p>
            <a:pPr marL="162560" indent="-16256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Cryptographic Batch Verification: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Bellare et al., "Fast Batch Verification for Digital Signatures" (EUROCRYPT): </a:t>
            </a:r>
            <a:r>
              <a:rPr lang="en-US" sz="1200" b="1" u="sng" dirty="0">
                <a:solidFill>
                  <a:schemeClr val="accent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1200" dirty="0">
              <a:solidFill>
                <a:schemeClr val="accent5"/>
              </a:solidFill>
            </a:endParaRPr>
          </a:p>
          <a:p>
            <a:pPr marL="162560" indent="-16256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Zero-Copy Memory Semantics: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Linux Kernel </a:t>
            </a:r>
            <a:r>
              <a:rPr lang="en-US" sz="1200" dirty="0" err="1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io_uring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DPDK user-space buffer ring memory management: </a:t>
            </a:r>
            <a:r>
              <a:rPr lang="en-US" sz="1200" b="1" u="sng" dirty="0">
                <a:solidFill>
                  <a:schemeClr val="accent5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1200" dirty="0">
              <a:solidFill>
                <a:schemeClr val="accent5"/>
              </a:solidFill>
            </a:endParaRPr>
          </a:p>
        </p:txBody>
      </p:sp>
      <p:sp>
        <p:nvSpPr>
          <p:cNvPr id="23" name="Shape 20"/>
          <p:cNvSpPr/>
          <p:nvPr/>
        </p:nvSpPr>
        <p:spPr>
          <a:xfrm>
            <a:off x="6222844" y="4580146"/>
            <a:ext cx="5714857" cy="1651000"/>
          </a:xfrm>
          <a:prstGeom prst="roundRect">
            <a:avLst>
              <a:gd name="adj" fmla="val 2077"/>
            </a:avLst>
          </a:prstGeom>
          <a:solidFill>
            <a:srgbClr val="EAF2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5968851" y="4674083"/>
            <a:ext cx="6222844" cy="150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1F497D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6. Policy &amp; Statutory Alignment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273646" y="4983404"/>
            <a:ext cx="5613260" cy="1134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62560" indent="-16256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Section 65B Indian Evidence Act / Section 63 BSA 2023: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Automated certificate generation ensures hash integrity and non-repudiation in court. </a:t>
            </a:r>
            <a:r>
              <a:rPr lang="en-US" sz="1200" b="1" u="sng" dirty="0">
                <a:solidFill>
                  <a:schemeClr val="accent5"/>
                </a:solidFill>
                <a:latin typeface="Carlito" pitchFamily="34" charset="0"/>
                <a:ea typeface="Carlito" pitchFamily="34" charset="-122"/>
                <a:cs typeface="Carlito" pitchFamily="34" charset="-12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1200" b="1" u="sng" dirty="0">
              <a:solidFill>
                <a:schemeClr val="accent5"/>
              </a:solidFill>
            </a:endParaRPr>
          </a:p>
          <a:p>
            <a:pPr marL="162560" indent="-16256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CERT-In Cyber Security Directions (2022):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Mandatory 180-day log preservation and synchronization with national time servers (NPL/NTP).</a:t>
            </a:r>
            <a:r>
              <a:rPr lang="en-US" sz="1200" u="sng" dirty="0">
                <a:solidFill>
                  <a:schemeClr val="accent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lang="en-US" sz="1200" b="1" u="sng" dirty="0">
                <a:solidFill>
                  <a:schemeClr val="accent5"/>
                </a:solidFill>
                <a:latin typeface="Carlito" pitchFamily="34" charset="0"/>
                <a:ea typeface="Carlito" pitchFamily="34" charset="-122"/>
                <a:cs typeface="Carlito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1200" b="1" u="sng" dirty="0">
              <a:solidFill>
                <a:schemeClr val="accent5"/>
              </a:solidFill>
            </a:endParaRPr>
          </a:p>
          <a:p>
            <a:pPr marL="162560" indent="-162560" algn="just">
              <a:lnSpc>
                <a:spcPct val="90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DPDP Act 2023 (Digital Personal Data Protection Act):</a:t>
            </a:r>
            <a:r>
              <a:rPr lang="en-US" sz="12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Built-in automated PII masking engine scrub IP addresses, Aadhaar, PAN, and credentials before long-term storage</a:t>
            </a:r>
            <a:r>
              <a:rPr lang="en-US" sz="12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</a:t>
            </a:r>
            <a:r>
              <a:rPr lang="en-US" sz="1200" b="1" u="sng" dirty="0">
                <a:solidFill>
                  <a:schemeClr val="accent5"/>
                </a:solidFill>
                <a:latin typeface="Carlito" pitchFamily="34" charset="0"/>
                <a:ea typeface="Carlito" pitchFamily="34" charset="-122"/>
                <a:cs typeface="Carlito" pitchFamily="34" charset="-120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sz="1200" b="1" u="sng" dirty="0">
              <a:solidFill>
                <a:schemeClr val="accent5"/>
              </a:solidFill>
            </a:endParaRPr>
          </a:p>
        </p:txBody>
      </p:sp>
      <p:sp>
        <p:nvSpPr>
          <p:cNvPr id="26" name="Text 23"/>
          <p:cNvSpPr/>
          <p:nvPr/>
        </p:nvSpPr>
        <p:spPr>
          <a:xfrm>
            <a:off x="11413443" y="6456759"/>
            <a:ext cx="686874" cy="164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Oval 31" descr="Your startup LOGO">
            <a:extLst>
              <a:ext uri="{FF2B5EF4-FFF2-40B4-BE49-F238E27FC236}">
                <a16:creationId xmlns:a16="http://schemas.microsoft.com/office/drawing/2014/main" id="{09DB9BCE-2EAC-47C0-3361-4EA1AFED7A5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09009" y="53843"/>
            <a:ext cx="1473142" cy="55416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Team Victory</a:t>
            </a:r>
            <a:endParaRPr lang="en-US" dirty="0"/>
          </a:p>
        </p:txBody>
      </p:sp>
      <p:pic>
        <p:nvPicPr>
          <p:cNvPr id="34" name="Image 0" descr="preencoded.png">
            <a:extLst>
              <a:ext uri="{FF2B5EF4-FFF2-40B4-BE49-F238E27FC236}">
                <a16:creationId xmlns:a16="http://schemas.microsoft.com/office/drawing/2014/main" id="{50AE64D9-94A6-D283-CF6E-869A5250F71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420708" y="1489"/>
            <a:ext cx="1608867" cy="4470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2078</Words>
  <Application>Microsoft Office PowerPoint</Application>
  <PresentationFormat>Widescreen</PresentationFormat>
  <Paragraphs>181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Noto Color Emoji</vt:lpstr>
      <vt:lpstr>Arial</vt:lpstr>
      <vt:lpstr>Tinos Bold</vt:lpstr>
      <vt:lpstr>Carlito</vt:lpstr>
      <vt:lpstr>EB Garamond Bold</vt:lpstr>
      <vt:lpstr>Carlito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ANURAG SWAIN</dc:creator>
  <cp:lastModifiedBy>ANURAG SWAIN</cp:lastModifiedBy>
  <cp:revision>5</cp:revision>
  <dcterms:created xsi:type="dcterms:W3CDTF">2026-09-30T06:09:37Z</dcterms:created>
  <dcterms:modified xsi:type="dcterms:W3CDTF">2026-09-30T12:03:55Z</dcterms:modified>
</cp:coreProperties>
</file>